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opperplate Gothic 32 AB Bold" panose="020B0604020202020204" charset="0"/>
      <p:regular r:id="rId14"/>
    </p:embeddedFont>
    <p:embeddedFont>
      <p:font typeface="Montserrat Bold" panose="020B0604020202020204" charset="0"/>
      <p:regular r:id="rId15"/>
    </p:embeddedFont>
    <p:embeddedFont>
      <p:font typeface="Open Sans" panose="020B0606030504020204" pitchFamily="34" charset="0"/>
      <p:regular r:id="rId16"/>
    </p:embeddedFont>
    <p:embeddedFont>
      <p:font typeface="Open Sans Bold" panose="020B0806030504020204" charset="0"/>
      <p:regular r:id="rId17"/>
    </p:embeddedFont>
    <p:embeddedFont>
      <p:font typeface="Poppins" panose="00000500000000000000" pitchFamily="2" charset="0"/>
      <p:regular r:id="rId18"/>
    </p:embeddedFont>
    <p:embeddedFont>
      <p:font typeface="Poppins Bold" panose="020B0604020202020204" charset="0"/>
      <p:regular r:id="rId19"/>
    </p:embeddedFont>
    <p:embeddedFont>
      <p:font typeface="Poppins Semi-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E3C">
                <a:alpha val="100000"/>
              </a:srgbClr>
            </a:gs>
            <a:gs pos="100000">
              <a:srgbClr val="002455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80932" y="6828973"/>
            <a:ext cx="5591601" cy="5591601"/>
          </a:xfrm>
          <a:custGeom>
            <a:avLst/>
            <a:gdLst/>
            <a:ahLst/>
            <a:cxnLst/>
            <a:rect l="l" t="t" r="r" b="b"/>
            <a:pathLst>
              <a:path w="5591601" h="5591601">
                <a:moveTo>
                  <a:pt x="0" y="0"/>
                </a:moveTo>
                <a:lnTo>
                  <a:pt x="5591601" y="0"/>
                </a:lnTo>
                <a:lnTo>
                  <a:pt x="5591601" y="5591601"/>
                </a:lnTo>
                <a:lnTo>
                  <a:pt x="0" y="55916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>
            <a:grpSpLocks noGrp="1" noUngrp="1" noRot="1" noMove="1" noResize="1"/>
          </p:cNvGrpSpPr>
          <p:nvPr/>
        </p:nvGrpSpPr>
        <p:grpSpPr>
          <a:xfrm>
            <a:off x="11866345" y="-307598"/>
            <a:ext cx="6840115" cy="11303018"/>
            <a:chOff x="0" y="0"/>
            <a:chExt cx="1059713" cy="1751133"/>
          </a:xfrm>
        </p:grpSpPr>
        <p:sp>
          <p:nvSpPr>
            <p:cNvPr id="4" name="Freeform 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59713" cy="1751133"/>
            </a:xfrm>
            <a:custGeom>
              <a:avLst/>
              <a:gdLst/>
              <a:ahLst/>
              <a:cxnLst/>
              <a:rect l="l" t="t" r="r" b="b"/>
              <a:pathLst>
                <a:path w="1059713" h="1751133">
                  <a:moveTo>
                    <a:pt x="0" y="0"/>
                  </a:moveTo>
                  <a:lnTo>
                    <a:pt x="1059713" y="0"/>
                  </a:lnTo>
                  <a:lnTo>
                    <a:pt x="1059713" y="1751133"/>
                  </a:lnTo>
                  <a:lnTo>
                    <a:pt x="0" y="1751133"/>
                  </a:lnTo>
                  <a:close/>
                </a:path>
              </a:pathLst>
            </a:custGeom>
            <a:blipFill>
              <a:blip r:embed="rId3"/>
              <a:stretch>
                <a:fillRect l="-73934" r="-73934"/>
              </a:stretch>
            </a:blipFill>
            <a:ln w="2286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>
            <a:grpSpLocks noGrp="1" noUngrp="1" noRot="1" noMove="1" noResize="1"/>
          </p:cNvGrpSpPr>
          <p:nvPr/>
        </p:nvGrpSpPr>
        <p:grpSpPr>
          <a:xfrm>
            <a:off x="437675" y="3458027"/>
            <a:ext cx="10670837" cy="1091256"/>
            <a:chOff x="0" y="0"/>
            <a:chExt cx="4543551" cy="464647"/>
          </a:xfrm>
        </p:grpSpPr>
        <p:sp>
          <p:nvSpPr>
            <p:cNvPr id="7" name="Freeform 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543551" cy="464647"/>
            </a:xfrm>
            <a:custGeom>
              <a:avLst/>
              <a:gdLst/>
              <a:ahLst/>
              <a:cxnLst/>
              <a:rect l="l" t="t" r="r" b="b"/>
              <a:pathLst>
                <a:path w="4543551" h="464647">
                  <a:moveTo>
                    <a:pt x="14170" y="0"/>
                  </a:moveTo>
                  <a:lnTo>
                    <a:pt x="4529380" y="0"/>
                  </a:lnTo>
                  <a:cubicBezTo>
                    <a:pt x="4533138" y="0"/>
                    <a:pt x="4536743" y="1493"/>
                    <a:pt x="4539400" y="4150"/>
                  </a:cubicBezTo>
                  <a:cubicBezTo>
                    <a:pt x="4542058" y="6808"/>
                    <a:pt x="4543551" y="10412"/>
                    <a:pt x="4543551" y="14170"/>
                  </a:cubicBezTo>
                  <a:lnTo>
                    <a:pt x="4543551" y="450477"/>
                  </a:lnTo>
                  <a:cubicBezTo>
                    <a:pt x="4543551" y="458303"/>
                    <a:pt x="4537206" y="464647"/>
                    <a:pt x="4529380" y="464647"/>
                  </a:cubicBezTo>
                  <a:lnTo>
                    <a:pt x="14170" y="464647"/>
                  </a:lnTo>
                  <a:cubicBezTo>
                    <a:pt x="6344" y="464647"/>
                    <a:pt x="0" y="458303"/>
                    <a:pt x="0" y="450477"/>
                  </a:cubicBezTo>
                  <a:lnTo>
                    <a:pt x="0" y="14170"/>
                  </a:lnTo>
                  <a:cubicBezTo>
                    <a:pt x="0" y="6344"/>
                    <a:pt x="6344" y="0"/>
                    <a:pt x="1417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9050"/>
              <a:ext cx="4543551" cy="483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3"/>
                </a:lnSpc>
              </a:pPr>
              <a:endParaRPr/>
            </a:p>
          </p:txBody>
        </p:sp>
      </p:grpSp>
      <p:sp>
        <p:nvSpPr>
          <p:cNvPr id="11" name="TextBox 1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81665" y="1150484"/>
            <a:ext cx="9982858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BLUESTOCK MUTUAL FUND ANALYTICS PLATFORM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0475" y="3468593"/>
            <a:ext cx="10145235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gradFill>
                  <a:gsLst>
                    <a:gs pos="0">
                      <a:srgbClr val="050E3C">
                        <a:alpha val="100000"/>
                      </a:srgbClr>
                    </a:gs>
                    <a:gs pos="100000">
                      <a:srgbClr val="002455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Poppins Semi-Bold"/>
                <a:ea typeface="Poppins Semi-Bold"/>
                <a:cs typeface="Poppins Semi-Bold"/>
                <a:sym typeface="Poppins Semi-Bold"/>
              </a:rPr>
              <a:t>End-to-End Data Engineering, Analytics &amp; Dashboard Solution</a:t>
            </a:r>
          </a:p>
        </p:txBody>
      </p:sp>
      <p:sp>
        <p:nvSpPr>
          <p:cNvPr id="13" name="TextBox 1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6800" y="5478388"/>
            <a:ext cx="5981700" cy="2538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endParaRPr dirty="0"/>
          </a:p>
          <a:p>
            <a:pPr algn="l">
              <a:lnSpc>
                <a:spcPts val="2812"/>
              </a:lnSpc>
            </a:pPr>
            <a:r>
              <a:rPr lang="en-US" sz="2704" dirty="0">
                <a:solidFill>
                  <a:srgbClr val="FFFFFF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BHIMISHETTI LOHITH</a:t>
            </a:r>
          </a:p>
          <a:p>
            <a:pPr algn="l">
              <a:lnSpc>
                <a:spcPts val="2812"/>
              </a:lnSpc>
            </a:pPr>
            <a:endParaRPr lang="en-US" sz="2704" dirty="0">
              <a:solidFill>
                <a:srgbClr val="FFFFFF"/>
              </a:solidFill>
              <a:latin typeface="Copperplate Gothic 32 AB Bold"/>
              <a:ea typeface="Copperplate Gothic 32 AB Bold"/>
              <a:cs typeface="Copperplate Gothic 32 AB Bold"/>
              <a:sym typeface="Copperplate Gothic 32 AB Bold"/>
            </a:endParaRPr>
          </a:p>
          <a:p>
            <a:pPr algn="l">
              <a:lnSpc>
                <a:spcPts val="2812"/>
              </a:lnSpc>
            </a:pPr>
            <a:r>
              <a:rPr lang="en-US" sz="2704" dirty="0">
                <a:solidFill>
                  <a:srgbClr val="FFFFFF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DATA ANALYST INTERN</a:t>
            </a:r>
          </a:p>
          <a:p>
            <a:pPr algn="l">
              <a:lnSpc>
                <a:spcPts val="2812"/>
              </a:lnSpc>
            </a:pPr>
            <a:endParaRPr lang="en-US" sz="2704" dirty="0">
              <a:solidFill>
                <a:srgbClr val="FFFFFF"/>
              </a:solidFill>
              <a:latin typeface="Copperplate Gothic 32 AB Bold"/>
              <a:ea typeface="Copperplate Gothic 32 AB Bold"/>
              <a:cs typeface="Copperplate Gothic 32 AB Bold"/>
              <a:sym typeface="Copperplate Gothic 32 AB Bold"/>
            </a:endParaRPr>
          </a:p>
          <a:p>
            <a:pPr algn="l">
              <a:lnSpc>
                <a:spcPts val="2812"/>
              </a:lnSpc>
            </a:pPr>
            <a:r>
              <a:rPr lang="en-US" sz="2704" dirty="0">
                <a:solidFill>
                  <a:srgbClr val="FFFFFF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BLUESTOCK FINTECH</a:t>
            </a:r>
          </a:p>
          <a:p>
            <a:pPr algn="l">
              <a:lnSpc>
                <a:spcPts val="2812"/>
              </a:lnSpc>
            </a:pPr>
            <a:endParaRPr lang="en-US" sz="2704" dirty="0">
              <a:solidFill>
                <a:srgbClr val="FFFFFF"/>
              </a:solidFill>
              <a:latin typeface="Copperplate Gothic 32 AB Bold"/>
              <a:ea typeface="Copperplate Gothic 32 AB Bold"/>
              <a:cs typeface="Copperplate Gothic 32 AB Bold"/>
              <a:sym typeface="Copperplate Gothic 32 AB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E3C">
                <a:alpha val="100000"/>
              </a:srgbClr>
            </a:gs>
            <a:gs pos="100000">
              <a:srgbClr val="002455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23901" y="-1767101"/>
            <a:ext cx="5591601" cy="5591601"/>
          </a:xfrm>
          <a:custGeom>
            <a:avLst/>
            <a:gdLst/>
            <a:ahLst/>
            <a:cxnLst/>
            <a:rect l="l" t="t" r="r" b="b"/>
            <a:pathLst>
              <a:path w="5591601" h="5591601">
                <a:moveTo>
                  <a:pt x="0" y="0"/>
                </a:moveTo>
                <a:lnTo>
                  <a:pt x="5591601" y="0"/>
                </a:lnTo>
                <a:lnTo>
                  <a:pt x="5591601" y="5591602"/>
                </a:lnTo>
                <a:lnTo>
                  <a:pt x="0" y="55916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83593" y="1028700"/>
            <a:ext cx="12080645" cy="9075152"/>
            <a:chOff x="0" y="0"/>
            <a:chExt cx="1061396" cy="7973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1396" cy="797335"/>
            </a:xfrm>
            <a:custGeom>
              <a:avLst/>
              <a:gdLst/>
              <a:ahLst/>
              <a:cxnLst/>
              <a:rect l="l" t="t" r="r" b="b"/>
              <a:pathLst>
                <a:path w="1061396" h="797335">
                  <a:moveTo>
                    <a:pt x="12517" y="0"/>
                  </a:moveTo>
                  <a:lnTo>
                    <a:pt x="1048879" y="0"/>
                  </a:lnTo>
                  <a:cubicBezTo>
                    <a:pt x="1052199" y="0"/>
                    <a:pt x="1055382" y="1319"/>
                    <a:pt x="1057730" y="3666"/>
                  </a:cubicBezTo>
                  <a:cubicBezTo>
                    <a:pt x="1060077" y="6013"/>
                    <a:pt x="1061396" y="9197"/>
                    <a:pt x="1061396" y="12517"/>
                  </a:cubicBezTo>
                  <a:lnTo>
                    <a:pt x="1061396" y="784819"/>
                  </a:lnTo>
                  <a:cubicBezTo>
                    <a:pt x="1061396" y="788138"/>
                    <a:pt x="1060077" y="791322"/>
                    <a:pt x="1057730" y="793669"/>
                  </a:cubicBezTo>
                  <a:cubicBezTo>
                    <a:pt x="1055382" y="796017"/>
                    <a:pt x="1052199" y="797335"/>
                    <a:pt x="1048879" y="797335"/>
                  </a:cubicBezTo>
                  <a:lnTo>
                    <a:pt x="12517" y="797335"/>
                  </a:lnTo>
                  <a:cubicBezTo>
                    <a:pt x="9197" y="797335"/>
                    <a:pt x="6013" y="796017"/>
                    <a:pt x="3666" y="793669"/>
                  </a:cubicBezTo>
                  <a:cubicBezTo>
                    <a:pt x="1319" y="791322"/>
                    <a:pt x="0" y="788138"/>
                    <a:pt x="0" y="784819"/>
                  </a:cubicBezTo>
                  <a:lnTo>
                    <a:pt x="0" y="12517"/>
                  </a:lnTo>
                  <a:cubicBezTo>
                    <a:pt x="0" y="9197"/>
                    <a:pt x="1319" y="6013"/>
                    <a:pt x="3666" y="3666"/>
                  </a:cubicBezTo>
                  <a:cubicBezTo>
                    <a:pt x="6013" y="1319"/>
                    <a:pt x="9197" y="0"/>
                    <a:pt x="12517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061396" cy="816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3593" y="306408"/>
            <a:ext cx="9823192" cy="627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 &amp; 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3593" y="1296101"/>
            <a:ext cx="8527259" cy="399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2522" lvl="1" indent="-261261" algn="l">
              <a:lnSpc>
                <a:spcPts val="3001"/>
              </a:lnSpc>
              <a:buFont typeface="Arial"/>
              <a:buChar char="•"/>
            </a:pPr>
            <a:r>
              <a:rPr lang="en-US" sz="2420" b="1">
                <a:gradFill>
                  <a:gsLst>
                    <a:gs pos="0">
                      <a:srgbClr val="050E3C">
                        <a:alpha val="100000"/>
                      </a:srgbClr>
                    </a:gs>
                    <a:gs pos="100000">
                      <a:srgbClr val="002455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4281" y="1706376"/>
            <a:ext cx="10225572" cy="3256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04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mutual fund industry generates large volumes of NAV, transaction, and investor data every day. 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04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Analyzing this data manually is difficult and often leads to delayed insights and inefficient decision-making.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04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Fund managers and investors require a centralized analytics platform that can track performance, evaluate risk, understand investor behavior, and support investment decisions through data-driven insights.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34281" y="4924683"/>
            <a:ext cx="7842463" cy="399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2522" lvl="1" indent="-261261" algn="l">
              <a:lnSpc>
                <a:spcPts val="3001"/>
              </a:lnSpc>
              <a:buFont typeface="Arial"/>
              <a:buChar char="•"/>
            </a:pPr>
            <a:r>
              <a:rPr lang="en-US" sz="2420" b="1">
                <a:gradFill>
                  <a:gsLst>
                    <a:gs pos="0">
                      <a:srgbClr val="050E3C">
                        <a:alpha val="100000"/>
                      </a:srgbClr>
                    </a:gs>
                    <a:gs pos="100000">
                      <a:srgbClr val="002455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4281" y="5537701"/>
            <a:ext cx="10225572" cy="455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04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 a complete ETL pipeline to collect, validate, and process mutual fund datasets.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04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 structured financial data in a SQLite database for efficient querying and analysis.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04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 exploratory and statistical analysis to identify market trends and investor behavior.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04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 an interactive Power BI dashboard for business reporting and decision-making.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04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 advanced risk analytics and portfolio optimization techniques.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1880288" y="1178743"/>
            <a:ext cx="2054666" cy="7340253"/>
            <a:chOff x="0" y="0"/>
            <a:chExt cx="362992" cy="12967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2992" cy="1296780"/>
            </a:xfrm>
            <a:custGeom>
              <a:avLst/>
              <a:gdLst/>
              <a:ahLst/>
              <a:cxnLst/>
              <a:rect l="l" t="t" r="r" b="b"/>
              <a:pathLst>
                <a:path w="362992" h="1296780">
                  <a:moveTo>
                    <a:pt x="86663" y="0"/>
                  </a:moveTo>
                  <a:lnTo>
                    <a:pt x="276328" y="0"/>
                  </a:lnTo>
                  <a:cubicBezTo>
                    <a:pt x="324191" y="0"/>
                    <a:pt x="362992" y="38800"/>
                    <a:pt x="362992" y="86663"/>
                  </a:cubicBezTo>
                  <a:lnTo>
                    <a:pt x="362992" y="1210117"/>
                  </a:lnTo>
                  <a:cubicBezTo>
                    <a:pt x="362992" y="1233101"/>
                    <a:pt x="353861" y="1255145"/>
                    <a:pt x="337608" y="1271397"/>
                  </a:cubicBezTo>
                  <a:cubicBezTo>
                    <a:pt x="321356" y="1287650"/>
                    <a:pt x="299313" y="1296780"/>
                    <a:pt x="276328" y="1296780"/>
                  </a:cubicBezTo>
                  <a:lnTo>
                    <a:pt x="86663" y="1296780"/>
                  </a:lnTo>
                  <a:cubicBezTo>
                    <a:pt x="63679" y="1296780"/>
                    <a:pt x="41636" y="1287650"/>
                    <a:pt x="25383" y="1271397"/>
                  </a:cubicBezTo>
                  <a:cubicBezTo>
                    <a:pt x="9131" y="1255145"/>
                    <a:pt x="0" y="1233101"/>
                    <a:pt x="0" y="1210117"/>
                  </a:cubicBezTo>
                  <a:lnTo>
                    <a:pt x="0" y="86663"/>
                  </a:lnTo>
                  <a:cubicBezTo>
                    <a:pt x="0" y="63679"/>
                    <a:pt x="9131" y="41636"/>
                    <a:pt x="25383" y="25383"/>
                  </a:cubicBezTo>
                  <a:cubicBezTo>
                    <a:pt x="41636" y="9131"/>
                    <a:pt x="63679" y="0"/>
                    <a:pt x="86663" y="0"/>
                  </a:cubicBezTo>
                  <a:close/>
                </a:path>
              </a:pathLst>
            </a:custGeom>
            <a:blipFill>
              <a:blip r:embed="rId3"/>
              <a:stretch>
                <a:fillRect l="-342237" t="-12685" r="-240737" b="-1488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262321" y="1768004"/>
            <a:ext cx="2054666" cy="7340253"/>
            <a:chOff x="0" y="0"/>
            <a:chExt cx="362992" cy="12967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2992" cy="1296780"/>
            </a:xfrm>
            <a:custGeom>
              <a:avLst/>
              <a:gdLst/>
              <a:ahLst/>
              <a:cxnLst/>
              <a:rect l="l" t="t" r="r" b="b"/>
              <a:pathLst>
                <a:path w="362992" h="1296780">
                  <a:moveTo>
                    <a:pt x="86663" y="0"/>
                  </a:moveTo>
                  <a:lnTo>
                    <a:pt x="276328" y="0"/>
                  </a:lnTo>
                  <a:cubicBezTo>
                    <a:pt x="324191" y="0"/>
                    <a:pt x="362992" y="38800"/>
                    <a:pt x="362992" y="86663"/>
                  </a:cubicBezTo>
                  <a:lnTo>
                    <a:pt x="362992" y="1210117"/>
                  </a:lnTo>
                  <a:cubicBezTo>
                    <a:pt x="362992" y="1233101"/>
                    <a:pt x="353861" y="1255145"/>
                    <a:pt x="337608" y="1271397"/>
                  </a:cubicBezTo>
                  <a:cubicBezTo>
                    <a:pt x="321356" y="1287650"/>
                    <a:pt x="299313" y="1296780"/>
                    <a:pt x="276328" y="1296780"/>
                  </a:cubicBezTo>
                  <a:lnTo>
                    <a:pt x="86663" y="1296780"/>
                  </a:lnTo>
                  <a:cubicBezTo>
                    <a:pt x="63679" y="1296780"/>
                    <a:pt x="41636" y="1287650"/>
                    <a:pt x="25383" y="1271397"/>
                  </a:cubicBezTo>
                  <a:cubicBezTo>
                    <a:pt x="9131" y="1255145"/>
                    <a:pt x="0" y="1233101"/>
                    <a:pt x="0" y="1210117"/>
                  </a:cubicBezTo>
                  <a:lnTo>
                    <a:pt x="0" y="86663"/>
                  </a:lnTo>
                  <a:cubicBezTo>
                    <a:pt x="0" y="63679"/>
                    <a:pt x="9131" y="41636"/>
                    <a:pt x="25383" y="25383"/>
                  </a:cubicBezTo>
                  <a:cubicBezTo>
                    <a:pt x="41636" y="9131"/>
                    <a:pt x="63679" y="0"/>
                    <a:pt x="86663" y="0"/>
                  </a:cubicBezTo>
                  <a:close/>
                </a:path>
              </a:pathLst>
            </a:custGeom>
            <a:blipFill>
              <a:blip r:embed="rId3"/>
              <a:stretch>
                <a:fillRect l="-449228" t="-17944" r="-114689" b="-606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644354" y="1178743"/>
            <a:ext cx="2054666" cy="7340253"/>
            <a:chOff x="0" y="0"/>
            <a:chExt cx="362992" cy="12967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2992" cy="1296780"/>
            </a:xfrm>
            <a:custGeom>
              <a:avLst/>
              <a:gdLst/>
              <a:ahLst/>
              <a:cxnLst/>
              <a:rect l="l" t="t" r="r" b="b"/>
              <a:pathLst>
                <a:path w="362992" h="1296780">
                  <a:moveTo>
                    <a:pt x="86663" y="0"/>
                  </a:moveTo>
                  <a:lnTo>
                    <a:pt x="276328" y="0"/>
                  </a:lnTo>
                  <a:cubicBezTo>
                    <a:pt x="324191" y="0"/>
                    <a:pt x="362992" y="38800"/>
                    <a:pt x="362992" y="86663"/>
                  </a:cubicBezTo>
                  <a:lnTo>
                    <a:pt x="362992" y="1210117"/>
                  </a:lnTo>
                  <a:cubicBezTo>
                    <a:pt x="362992" y="1233101"/>
                    <a:pt x="353861" y="1255145"/>
                    <a:pt x="337608" y="1271397"/>
                  </a:cubicBezTo>
                  <a:cubicBezTo>
                    <a:pt x="321356" y="1287650"/>
                    <a:pt x="299313" y="1296780"/>
                    <a:pt x="276328" y="1296780"/>
                  </a:cubicBezTo>
                  <a:lnTo>
                    <a:pt x="86663" y="1296780"/>
                  </a:lnTo>
                  <a:cubicBezTo>
                    <a:pt x="63679" y="1296780"/>
                    <a:pt x="41636" y="1287650"/>
                    <a:pt x="25383" y="1271397"/>
                  </a:cubicBezTo>
                  <a:cubicBezTo>
                    <a:pt x="9131" y="1255145"/>
                    <a:pt x="0" y="1233101"/>
                    <a:pt x="0" y="1210117"/>
                  </a:cubicBezTo>
                  <a:lnTo>
                    <a:pt x="0" y="86663"/>
                  </a:lnTo>
                  <a:cubicBezTo>
                    <a:pt x="0" y="63679"/>
                    <a:pt x="9131" y="41636"/>
                    <a:pt x="25383" y="25383"/>
                  </a:cubicBezTo>
                  <a:cubicBezTo>
                    <a:pt x="41636" y="9131"/>
                    <a:pt x="63679" y="0"/>
                    <a:pt x="86663" y="0"/>
                  </a:cubicBezTo>
                  <a:close/>
                </a:path>
              </a:pathLst>
            </a:custGeom>
            <a:blipFill>
              <a:blip r:embed="rId3"/>
              <a:stretch>
                <a:fillRect l="-580270" t="-15491" r="-23628" b="-1598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E3C">
                <a:alpha val="100000"/>
              </a:srgbClr>
            </a:gs>
            <a:gs pos="100000">
              <a:srgbClr val="002455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10170" y="0"/>
            <a:ext cx="15277830" cy="10287000"/>
          </a:xfrm>
          <a:custGeom>
            <a:avLst/>
            <a:gdLst/>
            <a:ahLst/>
            <a:cxnLst/>
            <a:rect l="l" t="t" r="r" b="b"/>
            <a:pathLst>
              <a:path w="15277830" h="10287000">
                <a:moveTo>
                  <a:pt x="0" y="0"/>
                </a:moveTo>
                <a:lnTo>
                  <a:pt x="15277830" y="0"/>
                </a:lnTo>
                <a:lnTo>
                  <a:pt x="152778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872850" y="381897"/>
            <a:ext cx="1372320" cy="9332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79"/>
              </a:lnSpc>
            </a:pPr>
            <a:r>
              <a:rPr lang="en-US" sz="14661" b="1">
                <a:solidFill>
                  <a:srgbClr val="CCBD80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</a:p>
          <a:p>
            <a:pPr algn="ctr">
              <a:lnSpc>
                <a:spcPts val="18179"/>
              </a:lnSpc>
            </a:pPr>
            <a:r>
              <a:rPr lang="en-US" sz="14661" b="1">
                <a:solidFill>
                  <a:srgbClr val="CCBD80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</a:p>
          <a:p>
            <a:pPr algn="ctr">
              <a:lnSpc>
                <a:spcPts val="18179"/>
              </a:lnSpc>
            </a:pPr>
            <a:r>
              <a:rPr lang="en-US" sz="14661" b="1">
                <a:solidFill>
                  <a:srgbClr val="CCBD80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</a:p>
          <a:p>
            <a:pPr algn="ctr">
              <a:lnSpc>
                <a:spcPts val="18179"/>
              </a:lnSpc>
              <a:spcBef>
                <a:spcPct val="0"/>
              </a:spcBef>
            </a:pPr>
            <a:r>
              <a:rPr lang="en-US" sz="14661" b="1">
                <a:solidFill>
                  <a:srgbClr val="CCBD80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E3C">
                <a:alpha val="100000"/>
              </a:srgbClr>
            </a:gs>
            <a:gs pos="100000">
              <a:srgbClr val="002455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2192" y="0"/>
            <a:ext cx="15503616" cy="10287000"/>
          </a:xfrm>
          <a:custGeom>
            <a:avLst/>
            <a:gdLst/>
            <a:ahLst/>
            <a:cxnLst/>
            <a:rect l="l" t="t" r="r" b="b"/>
            <a:pathLst>
              <a:path w="15503616" h="10287000">
                <a:moveTo>
                  <a:pt x="0" y="0"/>
                </a:moveTo>
                <a:lnTo>
                  <a:pt x="15503616" y="0"/>
                </a:lnTo>
                <a:lnTo>
                  <a:pt x="155036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73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E3C">
                <a:alpha val="100000"/>
              </a:srgbClr>
            </a:gs>
            <a:gs pos="100000">
              <a:srgbClr val="002455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181316" y="1884083"/>
            <a:ext cx="6744959" cy="4339730"/>
            <a:chOff x="0" y="0"/>
            <a:chExt cx="1587006" cy="1021085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587006" cy="1021080"/>
            </a:xfrm>
            <a:custGeom>
              <a:avLst/>
              <a:gdLst/>
              <a:ahLst/>
              <a:cxnLst/>
              <a:rect l="l" t="t" r="r" b="b"/>
              <a:pathLst>
                <a:path w="1587006" h="1021080">
                  <a:moveTo>
                    <a:pt x="965120" y="884770"/>
                  </a:moveTo>
                  <a:cubicBezTo>
                    <a:pt x="983327" y="864417"/>
                    <a:pt x="1009342" y="852784"/>
                    <a:pt x="1036650" y="852783"/>
                  </a:cubicBezTo>
                  <a:lnTo>
                    <a:pt x="1500741" y="853119"/>
                  </a:lnTo>
                  <a:cubicBezTo>
                    <a:pt x="1523616" y="853131"/>
                    <a:pt x="1545558" y="844053"/>
                    <a:pt x="1561737" y="827883"/>
                  </a:cubicBezTo>
                  <a:cubicBezTo>
                    <a:pt x="1577916" y="811712"/>
                    <a:pt x="1587006" y="789775"/>
                    <a:pt x="1587006" y="766901"/>
                  </a:cubicBezTo>
                  <a:lnTo>
                    <a:pt x="1587006" y="86219"/>
                  </a:lnTo>
                  <a:cubicBezTo>
                    <a:pt x="1587006" y="63352"/>
                    <a:pt x="1577922" y="41422"/>
                    <a:pt x="1561753" y="25253"/>
                  </a:cubicBezTo>
                  <a:cubicBezTo>
                    <a:pt x="1545584" y="9084"/>
                    <a:pt x="1523654" y="0"/>
                    <a:pt x="1500787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934867"/>
                  </a:lnTo>
                  <a:cubicBezTo>
                    <a:pt x="4" y="982482"/>
                    <a:pt x="38604" y="1021080"/>
                    <a:pt x="86219" y="1021080"/>
                  </a:cubicBezTo>
                  <a:lnTo>
                    <a:pt x="804624" y="1021080"/>
                  </a:lnTo>
                  <a:cubicBezTo>
                    <a:pt x="829157" y="1021081"/>
                    <a:pt x="852529" y="1010630"/>
                    <a:pt x="868886" y="992345"/>
                  </a:cubicBezTo>
                  <a:close/>
                </a:path>
              </a:pathLst>
            </a:custGeom>
            <a:blipFill>
              <a:blip r:embed="rId2"/>
              <a:stretch>
                <a:fillRect r="-31063"/>
              </a:stretch>
            </a:blipFill>
            <a:ln w="1047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09903" y="735876"/>
            <a:ext cx="9933991" cy="7245360"/>
            <a:chOff x="0" y="0"/>
            <a:chExt cx="2616360" cy="19082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16360" cy="1908243"/>
            </a:xfrm>
            <a:custGeom>
              <a:avLst/>
              <a:gdLst/>
              <a:ahLst/>
              <a:cxnLst/>
              <a:rect l="l" t="t" r="r" b="b"/>
              <a:pathLst>
                <a:path w="2616360" h="1908243">
                  <a:moveTo>
                    <a:pt x="25718" y="0"/>
                  </a:moveTo>
                  <a:lnTo>
                    <a:pt x="2590642" y="0"/>
                  </a:lnTo>
                  <a:cubicBezTo>
                    <a:pt x="2597463" y="0"/>
                    <a:pt x="2604004" y="2710"/>
                    <a:pt x="2608827" y="7533"/>
                  </a:cubicBezTo>
                  <a:cubicBezTo>
                    <a:pt x="2613650" y="12356"/>
                    <a:pt x="2616360" y="18897"/>
                    <a:pt x="2616360" y="25718"/>
                  </a:cubicBezTo>
                  <a:lnTo>
                    <a:pt x="2616360" y="1882525"/>
                  </a:lnTo>
                  <a:cubicBezTo>
                    <a:pt x="2616360" y="1889346"/>
                    <a:pt x="2613650" y="1895887"/>
                    <a:pt x="2608827" y="1900710"/>
                  </a:cubicBezTo>
                  <a:cubicBezTo>
                    <a:pt x="2604004" y="1905533"/>
                    <a:pt x="2597463" y="1908243"/>
                    <a:pt x="2590642" y="1908243"/>
                  </a:cubicBezTo>
                  <a:lnTo>
                    <a:pt x="25718" y="1908243"/>
                  </a:lnTo>
                  <a:cubicBezTo>
                    <a:pt x="18897" y="1908243"/>
                    <a:pt x="12356" y="1905533"/>
                    <a:pt x="7533" y="1900710"/>
                  </a:cubicBezTo>
                  <a:cubicBezTo>
                    <a:pt x="2710" y="1895887"/>
                    <a:pt x="0" y="1889346"/>
                    <a:pt x="0" y="1882525"/>
                  </a:cubicBezTo>
                  <a:lnTo>
                    <a:pt x="0" y="25718"/>
                  </a:lnTo>
                  <a:cubicBezTo>
                    <a:pt x="0" y="18897"/>
                    <a:pt x="2710" y="12356"/>
                    <a:pt x="7533" y="7533"/>
                  </a:cubicBezTo>
                  <a:cubicBezTo>
                    <a:pt x="12356" y="2710"/>
                    <a:pt x="18897" y="0"/>
                    <a:pt x="25718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616360" cy="192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3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39829" y="325173"/>
            <a:ext cx="11126467" cy="802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4"/>
              </a:lnSpc>
              <a:spcBef>
                <a:spcPct val="0"/>
              </a:spcBef>
            </a:pPr>
            <a:r>
              <a:rPr lang="en-US" sz="518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EDA HIGHLIGHTS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66158" y="8004115"/>
            <a:ext cx="9621480" cy="228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71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</a:t>
            </a:r>
          </a:p>
          <a:p>
            <a:pPr algn="just">
              <a:lnSpc>
                <a:spcPts val="2976"/>
              </a:lnSpc>
            </a:pPr>
            <a:endParaRPr lang="en-US" sz="279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18160" lvl="1" indent="-259080" algn="l">
              <a:lnSpc>
                <a:spcPts val="2976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EDA phase generated business insights that guided the performance analytics and dashboard development stages.</a:t>
            </a:r>
          </a:p>
          <a:p>
            <a:pPr algn="just">
              <a:lnSpc>
                <a:spcPts val="2698"/>
              </a:lnSpc>
              <a:spcBef>
                <a:spcPct val="0"/>
              </a:spcBef>
            </a:pPr>
            <a:endParaRPr lang="en-US"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655436" y="1693583"/>
            <a:ext cx="9042924" cy="581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28"/>
              </a:lnSpc>
              <a:spcBef>
                <a:spcPct val="0"/>
              </a:spcBef>
            </a:pPr>
            <a:r>
              <a:rPr lang="en-US" sz="244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Major Analysis</a:t>
            </a:r>
          </a:p>
          <a:p>
            <a:pPr algn="just">
              <a:lnSpc>
                <a:spcPts val="3028"/>
              </a:lnSpc>
              <a:spcBef>
                <a:spcPct val="0"/>
              </a:spcBef>
            </a:pPr>
            <a:endParaRPr lang="en-US" sz="2442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64061" lvl="1" indent="-232031" algn="just">
              <a:lnSpc>
                <a:spcPts val="2665"/>
              </a:lnSpc>
              <a:spcBef>
                <a:spcPct val="0"/>
              </a:spcBef>
              <a:buFont typeface="Arial"/>
              <a:buChar char="•"/>
            </a:pPr>
            <a:r>
              <a:rPr lang="en-US" sz="21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NAV trend analysis revealed long-term growth patterns across different fund categories.</a:t>
            </a:r>
          </a:p>
          <a:p>
            <a:pPr algn="just">
              <a:lnSpc>
                <a:spcPts val="2665"/>
              </a:lnSpc>
              <a:spcBef>
                <a:spcPct val="0"/>
              </a:spcBef>
            </a:pPr>
            <a:endParaRPr lang="en-US" sz="214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4061" lvl="1" indent="-232031" algn="just">
              <a:lnSpc>
                <a:spcPts val="2665"/>
              </a:lnSpc>
              <a:spcBef>
                <a:spcPct val="0"/>
              </a:spcBef>
              <a:buFont typeface="Arial"/>
              <a:buChar char="•"/>
            </a:pPr>
            <a:r>
              <a:rPr lang="en-US" sz="21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Investor transaction analysis highlighted SIP as the dominant investment mode.</a:t>
            </a:r>
          </a:p>
          <a:p>
            <a:pPr algn="just">
              <a:lnSpc>
                <a:spcPts val="2665"/>
              </a:lnSpc>
              <a:spcBef>
                <a:spcPct val="0"/>
              </a:spcBef>
            </a:pPr>
            <a:endParaRPr lang="en-US" sz="214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4061" lvl="1" indent="-232031" algn="just">
              <a:lnSpc>
                <a:spcPts val="2665"/>
              </a:lnSpc>
              <a:spcBef>
                <a:spcPct val="0"/>
              </a:spcBef>
              <a:buFont typeface="Arial"/>
              <a:buChar char="•"/>
            </a:pPr>
            <a:r>
              <a:rPr lang="en-US" sz="21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Geographic analysis identified major states contributing to investment inflows.</a:t>
            </a:r>
          </a:p>
          <a:p>
            <a:pPr algn="just">
              <a:lnSpc>
                <a:spcPts val="2665"/>
              </a:lnSpc>
              <a:spcBef>
                <a:spcPct val="0"/>
              </a:spcBef>
            </a:pPr>
            <a:endParaRPr lang="en-US" sz="214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4061" lvl="1" indent="-232031" algn="just">
              <a:lnSpc>
                <a:spcPts val="2665"/>
              </a:lnSpc>
              <a:spcBef>
                <a:spcPct val="0"/>
              </a:spcBef>
              <a:buFont typeface="Arial"/>
              <a:buChar char="•"/>
            </a:pPr>
            <a:r>
              <a:rPr lang="en-US" sz="21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Correlation analysis helped understand relationships between selected mutual funds.</a:t>
            </a:r>
          </a:p>
          <a:p>
            <a:pPr algn="just">
              <a:lnSpc>
                <a:spcPts val="2665"/>
              </a:lnSpc>
              <a:spcBef>
                <a:spcPct val="0"/>
              </a:spcBef>
            </a:pPr>
            <a:endParaRPr lang="en-US" sz="214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4061" lvl="1" indent="-232031" algn="just">
              <a:lnSpc>
                <a:spcPts val="2665"/>
              </a:lnSpc>
              <a:spcBef>
                <a:spcPct val="0"/>
              </a:spcBef>
              <a:buFont typeface="Arial"/>
              <a:buChar char="•"/>
            </a:pPr>
            <a:r>
              <a:rPr lang="en-US" sz="21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Category-level analysis highlighted differences in fund performance and participation.</a:t>
            </a:r>
          </a:p>
          <a:p>
            <a:pPr algn="just">
              <a:lnSpc>
                <a:spcPts val="2665"/>
              </a:lnSpc>
              <a:spcBef>
                <a:spcPct val="0"/>
              </a:spcBef>
            </a:pPr>
            <a:endParaRPr lang="en-US" sz="214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67411" y="1270673"/>
            <a:ext cx="11126467" cy="461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EXPLORATORY DATA ANALYSIS</a:t>
            </a:r>
          </a:p>
        </p:txBody>
      </p:sp>
      <p:grpSp>
        <p:nvGrpSpPr>
          <p:cNvPr id="12" name="Group 12"/>
          <p:cNvGrpSpPr>
            <a:grpSpLocks noGrp="1" noUngrp="1" noRot="1" noMove="1" noResize="1"/>
          </p:cNvGrpSpPr>
          <p:nvPr/>
        </p:nvGrpSpPr>
        <p:grpSpPr>
          <a:xfrm rot="-10800000">
            <a:off x="1216709" y="5817168"/>
            <a:ext cx="6726936" cy="4328134"/>
            <a:chOff x="0" y="0"/>
            <a:chExt cx="1587006" cy="1021085"/>
          </a:xfrm>
        </p:grpSpPr>
        <p:sp>
          <p:nvSpPr>
            <p:cNvPr id="13" name="Freeform 1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0" y="0"/>
              <a:ext cx="1587006" cy="1021080"/>
            </a:xfrm>
            <a:custGeom>
              <a:avLst/>
              <a:gdLst/>
              <a:ahLst/>
              <a:cxnLst/>
              <a:rect l="l" t="t" r="r" b="b"/>
              <a:pathLst>
                <a:path w="1587006" h="1021080">
                  <a:moveTo>
                    <a:pt x="621886" y="136310"/>
                  </a:moveTo>
                  <a:cubicBezTo>
                    <a:pt x="603679" y="156663"/>
                    <a:pt x="577664" y="168296"/>
                    <a:pt x="550356" y="168297"/>
                  </a:cubicBezTo>
                  <a:lnTo>
                    <a:pt x="86265" y="167961"/>
                  </a:lnTo>
                  <a:cubicBezTo>
                    <a:pt x="63390" y="167949"/>
                    <a:pt x="41448" y="177027"/>
                    <a:pt x="25269" y="193197"/>
                  </a:cubicBezTo>
                  <a:cubicBezTo>
                    <a:pt x="9090" y="209368"/>
                    <a:pt x="0" y="231305"/>
                    <a:pt x="0" y="254179"/>
                  </a:cubicBezTo>
                  <a:lnTo>
                    <a:pt x="0" y="934861"/>
                  </a:lnTo>
                  <a:cubicBezTo>
                    <a:pt x="0" y="957728"/>
                    <a:pt x="9084" y="979658"/>
                    <a:pt x="25253" y="995827"/>
                  </a:cubicBezTo>
                  <a:cubicBezTo>
                    <a:pt x="41422" y="1011996"/>
                    <a:pt x="63352" y="1021080"/>
                    <a:pt x="86219" y="1021080"/>
                  </a:cubicBezTo>
                  <a:lnTo>
                    <a:pt x="1283984" y="1021080"/>
                  </a:lnTo>
                  <a:cubicBezTo>
                    <a:pt x="1308517" y="1021081"/>
                    <a:pt x="1331889" y="1010630"/>
                    <a:pt x="1348246" y="992345"/>
                  </a:cubicBezTo>
                  <a:lnTo>
                    <a:pt x="1565046" y="749988"/>
                  </a:lnTo>
                  <a:cubicBezTo>
                    <a:pt x="1579188" y="734180"/>
                    <a:pt x="1587006" y="713715"/>
                    <a:pt x="1587006" y="692504"/>
                  </a:cubicBezTo>
                  <a:lnTo>
                    <a:pt x="1587006" y="86213"/>
                  </a:lnTo>
                  <a:cubicBezTo>
                    <a:pt x="1587003" y="38598"/>
                    <a:pt x="1548402" y="0"/>
                    <a:pt x="1500787" y="0"/>
                  </a:cubicBezTo>
                  <a:lnTo>
                    <a:pt x="782382" y="0"/>
                  </a:lnTo>
                  <a:cubicBezTo>
                    <a:pt x="757849" y="-1"/>
                    <a:pt x="734477" y="10450"/>
                    <a:pt x="718120" y="28735"/>
                  </a:cubicBezTo>
                  <a:close/>
                </a:path>
              </a:pathLst>
            </a:custGeom>
            <a:blipFill>
              <a:blip r:embed="rId3"/>
              <a:stretch>
                <a:fillRect t="-22421" b="-27350"/>
              </a:stretch>
            </a:blipFill>
            <a:ln w="1047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E3C">
                <a:alpha val="100000"/>
              </a:srgbClr>
            </a:gs>
            <a:gs pos="100000">
              <a:srgbClr val="002455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35801"/>
            <a:ext cx="12615926" cy="1085589"/>
            <a:chOff x="0" y="0"/>
            <a:chExt cx="4392955" cy="3780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2955" cy="378010"/>
            </a:xfrm>
            <a:custGeom>
              <a:avLst/>
              <a:gdLst/>
              <a:ahLst/>
              <a:cxnLst/>
              <a:rect l="l" t="t" r="r" b="b"/>
              <a:pathLst>
                <a:path w="4392955" h="378010">
                  <a:moveTo>
                    <a:pt x="4189755" y="0"/>
                  </a:moveTo>
                  <a:cubicBezTo>
                    <a:pt x="4301979" y="0"/>
                    <a:pt x="4392955" y="84620"/>
                    <a:pt x="4392955" y="189005"/>
                  </a:cubicBezTo>
                  <a:cubicBezTo>
                    <a:pt x="4392955" y="293389"/>
                    <a:pt x="4301979" y="378010"/>
                    <a:pt x="4189755" y="378010"/>
                  </a:cubicBezTo>
                  <a:lnTo>
                    <a:pt x="203200" y="378010"/>
                  </a:lnTo>
                  <a:cubicBezTo>
                    <a:pt x="90976" y="378010"/>
                    <a:pt x="0" y="293389"/>
                    <a:pt x="0" y="189005"/>
                  </a:cubicBezTo>
                  <a:cubicBezTo>
                    <a:pt x="0" y="84620"/>
                    <a:pt x="90976" y="0"/>
                    <a:pt x="203200" y="0"/>
                  </a:cubicBezTo>
                  <a:lnTo>
                    <a:pt x="4189755" y="0"/>
                  </a:lnTo>
                  <a:close/>
                </a:path>
              </a:pathLst>
            </a:custGeom>
            <a:ln w="666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392955" cy="397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3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7201" y="1700458"/>
            <a:ext cx="10521444" cy="750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Implementations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endParaRPr lang="en-US" sz="249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53390" lvl="1" indent="-226695" algn="l">
              <a:lnSpc>
                <a:spcPts val="2604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VaR &amp; CVaR Analysis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Calculated downside risk metrics to estimate potential losses under adverse market conditions.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endParaRPr lang="en-US"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3390" lvl="1" indent="-226695" algn="l">
              <a:lnSpc>
                <a:spcPts val="2604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Rolling Sharpe Ratio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Evaluated changes in risk-adjusted fund performance over time using a 90-day rolling window.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endParaRPr lang="en-US"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3390" lvl="1" indent="-226695" algn="l">
              <a:lnSpc>
                <a:spcPts val="2604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Investor Cohort Analysis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Grouped investors by first investment year to compare investment behavior and fund preferences.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endParaRPr lang="en-US"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3390" lvl="1" indent="-226695" algn="l">
              <a:lnSpc>
                <a:spcPts val="2604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SIP Continuity Analysis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Identified investors at risk of SIP discontinuation based on transaction gaps.</a:t>
            </a:r>
          </a:p>
          <a:p>
            <a:pPr marL="453390" lvl="1" indent="-226695" algn="l">
              <a:lnSpc>
                <a:spcPts val="2604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Fund Recommendation Engine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Recommended top-performing funds based on investor risk appetite and Sharpe Ratio.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endParaRPr lang="en-US"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3390" lvl="1" indent="-226695" algn="l">
              <a:lnSpc>
                <a:spcPts val="2604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Sector Concentration Analysis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Measured portfolio diversification using the Herfindahl-Hirschman Index (HHI).</a:t>
            </a:r>
          </a:p>
          <a:p>
            <a:pPr algn="just">
              <a:lnSpc>
                <a:spcPts val="2333"/>
              </a:lnSpc>
              <a:spcBef>
                <a:spcPct val="0"/>
              </a:spcBef>
            </a:pPr>
            <a:endParaRPr lang="en-US"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972328" y="1483183"/>
            <a:ext cx="7079497" cy="3859073"/>
          </a:xfrm>
          <a:custGeom>
            <a:avLst/>
            <a:gdLst/>
            <a:ahLst/>
            <a:cxnLst/>
            <a:rect l="l" t="t" r="r" b="b"/>
            <a:pathLst>
              <a:path w="7079497" h="3859073">
                <a:moveTo>
                  <a:pt x="0" y="0"/>
                </a:moveTo>
                <a:lnTo>
                  <a:pt x="7079497" y="0"/>
                </a:lnTo>
                <a:lnTo>
                  <a:pt x="7079497" y="3859073"/>
                </a:lnTo>
                <a:lnTo>
                  <a:pt x="0" y="3859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0972328" y="5742678"/>
            <a:ext cx="7079497" cy="3515622"/>
          </a:xfrm>
          <a:custGeom>
            <a:avLst/>
            <a:gdLst/>
            <a:ahLst/>
            <a:cxnLst/>
            <a:rect l="l" t="t" r="r" b="b"/>
            <a:pathLst>
              <a:path w="7079497" h="3515622">
                <a:moveTo>
                  <a:pt x="0" y="0"/>
                </a:moveTo>
                <a:lnTo>
                  <a:pt x="7079497" y="0"/>
                </a:lnTo>
                <a:lnTo>
                  <a:pt x="7079497" y="3515622"/>
                </a:lnTo>
                <a:lnTo>
                  <a:pt x="0" y="3515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790372" y="455380"/>
            <a:ext cx="10889802" cy="627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ADVANCED ANALYTICS &amp; RISK ASSESSMENT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7201" y="9544050"/>
            <a:ext cx="16333170" cy="36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7"/>
              </a:lnSpc>
              <a:spcBef>
                <a:spcPct val="0"/>
              </a:spcBef>
            </a:pPr>
            <a:r>
              <a:rPr lang="en-US" sz="2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 Enhanced risk assessment, investor segmentation, and personalized investment recommendations.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E3C">
                <a:alpha val="100000"/>
              </a:srgbClr>
            </a:gs>
            <a:gs pos="100000">
              <a:srgbClr val="002455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66882" y="184544"/>
            <a:ext cx="9154236" cy="1317946"/>
            <a:chOff x="0" y="0"/>
            <a:chExt cx="2814795" cy="4052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14795" cy="405249"/>
            </a:xfrm>
            <a:custGeom>
              <a:avLst/>
              <a:gdLst/>
              <a:ahLst/>
              <a:cxnLst/>
              <a:rect l="l" t="t" r="r" b="b"/>
              <a:pathLst>
                <a:path w="2814795" h="405249">
                  <a:moveTo>
                    <a:pt x="2611595" y="0"/>
                  </a:moveTo>
                  <a:cubicBezTo>
                    <a:pt x="2723819" y="0"/>
                    <a:pt x="2814795" y="90718"/>
                    <a:pt x="2814795" y="202625"/>
                  </a:cubicBezTo>
                  <a:cubicBezTo>
                    <a:pt x="2814795" y="314531"/>
                    <a:pt x="2723819" y="405249"/>
                    <a:pt x="2611595" y="405249"/>
                  </a:cubicBezTo>
                  <a:lnTo>
                    <a:pt x="203200" y="405249"/>
                  </a:lnTo>
                  <a:cubicBezTo>
                    <a:pt x="90976" y="405249"/>
                    <a:pt x="0" y="314531"/>
                    <a:pt x="0" y="202625"/>
                  </a:cubicBezTo>
                  <a:cubicBezTo>
                    <a:pt x="0" y="90718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814795" cy="424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5948" y="2411174"/>
            <a:ext cx="17454356" cy="5435772"/>
            <a:chOff x="0" y="0"/>
            <a:chExt cx="4597032" cy="1431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97032" cy="1431644"/>
            </a:xfrm>
            <a:custGeom>
              <a:avLst/>
              <a:gdLst/>
              <a:ahLst/>
              <a:cxnLst/>
              <a:rect l="l" t="t" r="r" b="b"/>
              <a:pathLst>
                <a:path w="4597032" h="1431644">
                  <a:moveTo>
                    <a:pt x="14637" y="0"/>
                  </a:moveTo>
                  <a:lnTo>
                    <a:pt x="4582395" y="0"/>
                  </a:lnTo>
                  <a:cubicBezTo>
                    <a:pt x="4586277" y="0"/>
                    <a:pt x="4590000" y="1542"/>
                    <a:pt x="4592745" y="4287"/>
                  </a:cubicBezTo>
                  <a:cubicBezTo>
                    <a:pt x="4595490" y="7032"/>
                    <a:pt x="4597032" y="10755"/>
                    <a:pt x="4597032" y="14637"/>
                  </a:cubicBezTo>
                  <a:lnTo>
                    <a:pt x="4597032" y="1417006"/>
                  </a:lnTo>
                  <a:cubicBezTo>
                    <a:pt x="4597032" y="1420888"/>
                    <a:pt x="4595490" y="1424611"/>
                    <a:pt x="4592745" y="1427356"/>
                  </a:cubicBezTo>
                  <a:cubicBezTo>
                    <a:pt x="4590000" y="1430101"/>
                    <a:pt x="4586277" y="1431644"/>
                    <a:pt x="4582395" y="1431644"/>
                  </a:cubicBezTo>
                  <a:lnTo>
                    <a:pt x="14637" y="1431644"/>
                  </a:lnTo>
                  <a:cubicBezTo>
                    <a:pt x="6553" y="1431644"/>
                    <a:pt x="0" y="1425090"/>
                    <a:pt x="0" y="1417006"/>
                  </a:cubicBezTo>
                  <a:lnTo>
                    <a:pt x="0" y="14637"/>
                  </a:lnTo>
                  <a:cubicBezTo>
                    <a:pt x="0" y="10755"/>
                    <a:pt x="1542" y="7032"/>
                    <a:pt x="4287" y="4287"/>
                  </a:cubicBezTo>
                  <a:cubicBezTo>
                    <a:pt x="7032" y="1542"/>
                    <a:pt x="10755" y="0"/>
                    <a:pt x="1463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4597032" cy="1450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3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3" b="-35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4212028" y="532209"/>
            <a:ext cx="10921496" cy="627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PERFORMANCE           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16544" y="2593878"/>
            <a:ext cx="7609180" cy="48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Fund Performance Analytics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9510" y="3588208"/>
            <a:ext cx="16680795" cy="493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28"/>
              </a:lnSpc>
              <a:spcBef>
                <a:spcPct val="0"/>
              </a:spcBef>
            </a:pPr>
            <a:r>
              <a:rPr lang="en-US" sz="244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Metrics Evaluation</a:t>
            </a:r>
          </a:p>
          <a:p>
            <a:pPr algn="just">
              <a:lnSpc>
                <a:spcPts val="3028"/>
              </a:lnSpc>
              <a:spcBef>
                <a:spcPct val="0"/>
              </a:spcBef>
            </a:pPr>
            <a:r>
              <a:rPr lang="en-US" sz="24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Historical NAV data was converted into daily return series and used to evaluate mutual fund performance using industry-standard financial metrics.</a:t>
            </a:r>
          </a:p>
          <a:p>
            <a:pPr algn="just">
              <a:lnSpc>
                <a:spcPts val="3028"/>
              </a:lnSpc>
              <a:spcBef>
                <a:spcPct val="0"/>
              </a:spcBef>
            </a:pPr>
            <a:r>
              <a:rPr lang="en-US" sz="24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Metrics Calculated</a:t>
            </a:r>
          </a:p>
          <a:p>
            <a:pPr marL="527343" lvl="1" indent="-263671" algn="just">
              <a:lnSpc>
                <a:spcPts val="3028"/>
              </a:lnSpc>
              <a:spcBef>
                <a:spcPct val="0"/>
              </a:spcBef>
              <a:buFont typeface="Arial"/>
              <a:buChar char="•"/>
            </a:pPr>
            <a:r>
              <a:rPr lang="en-US" sz="24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CAGR (Compound Annual Growth Rate) – Measured long-term growth of mutual funds.</a:t>
            </a:r>
          </a:p>
          <a:p>
            <a:pPr marL="527343" lvl="1" indent="-263671" algn="just">
              <a:lnSpc>
                <a:spcPts val="3028"/>
              </a:lnSpc>
              <a:spcBef>
                <a:spcPct val="0"/>
              </a:spcBef>
              <a:buFont typeface="Arial"/>
              <a:buChar char="•"/>
            </a:pPr>
            <a:r>
              <a:rPr lang="en-US" sz="24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Sharpe Ratio – Evaluated risk-adjusted returns by comparing excess return to volatility.</a:t>
            </a:r>
          </a:p>
          <a:p>
            <a:pPr marL="527343" lvl="1" indent="-263671" algn="just">
              <a:lnSpc>
                <a:spcPts val="3028"/>
              </a:lnSpc>
              <a:spcBef>
                <a:spcPct val="0"/>
              </a:spcBef>
              <a:buFont typeface="Arial"/>
              <a:buChar char="•"/>
            </a:pPr>
            <a:r>
              <a:rPr lang="en-US" sz="24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Sortino Ratio – Assessed performance by considering only downside risk.</a:t>
            </a:r>
          </a:p>
          <a:p>
            <a:pPr marL="527343" lvl="1" indent="-263671" algn="just">
              <a:lnSpc>
                <a:spcPts val="3028"/>
              </a:lnSpc>
              <a:spcBef>
                <a:spcPct val="0"/>
              </a:spcBef>
              <a:buFont typeface="Arial"/>
              <a:buChar char="•"/>
            </a:pPr>
            <a:r>
              <a:rPr lang="en-US" sz="24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Alpha &amp; Beta – Measured fund performance relative to benchmark indices and market sensitivity.</a:t>
            </a:r>
          </a:p>
          <a:p>
            <a:pPr marL="527343" lvl="1" indent="-263671" algn="just">
              <a:lnSpc>
                <a:spcPts val="3028"/>
              </a:lnSpc>
              <a:spcBef>
                <a:spcPct val="0"/>
              </a:spcBef>
              <a:buFont typeface="Arial"/>
              <a:buChar char="•"/>
            </a:pPr>
            <a:r>
              <a:rPr lang="en-US" sz="24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Maximum Drawdown – Identified the largest historical decline experienced by each fund.</a:t>
            </a:r>
          </a:p>
          <a:p>
            <a:pPr algn="just">
              <a:lnSpc>
                <a:spcPts val="3028"/>
              </a:lnSpc>
              <a:spcBef>
                <a:spcPct val="0"/>
              </a:spcBef>
            </a:pPr>
            <a:r>
              <a:rPr lang="en-US" sz="244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</a:t>
            </a:r>
          </a:p>
          <a:p>
            <a:pPr algn="just">
              <a:lnSpc>
                <a:spcPts val="3028"/>
              </a:lnSpc>
              <a:spcBef>
                <a:spcPct val="0"/>
              </a:spcBef>
            </a:pPr>
            <a:r>
              <a:rPr lang="en-US" sz="24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comprehensive Fund Scorecard was developed by combining multiple performance indicators, enabling ranking and comparison of mutual funds based on returns, risk, and overall efficiency.</a:t>
            </a:r>
          </a:p>
          <a:p>
            <a:pPr algn="just">
              <a:lnSpc>
                <a:spcPts val="2665"/>
              </a:lnSpc>
              <a:spcBef>
                <a:spcPct val="0"/>
              </a:spcBef>
            </a:pPr>
            <a:endParaRPr lang="en-US" sz="244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E3C">
                <a:alpha val="100000"/>
              </a:srgbClr>
            </a:gs>
            <a:gs pos="100000">
              <a:srgbClr val="002455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90927" y="7780411"/>
            <a:ext cx="6311506" cy="120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56"/>
              </a:lnSpc>
              <a:spcBef>
                <a:spcPct val="0"/>
              </a:spcBef>
            </a:pPr>
            <a:r>
              <a:rPr lang="en-US" sz="1900">
                <a:gradFill>
                  <a:gsLst>
                    <a:gs pos="0">
                      <a:srgbClr val="050E3C">
                        <a:alpha val="100000"/>
                      </a:srgbClr>
                    </a:gs>
                    <a:gs pos="100000">
                      <a:srgbClr val="002455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elit. Nullam sed vehicula dolor, sit amet ornare magna. Ut id neque ullamcorper, imperdiet leo quis, condimentum sem.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53608" y="1149351"/>
            <a:ext cx="9933991" cy="6710885"/>
            <a:chOff x="0" y="0"/>
            <a:chExt cx="2616360" cy="1767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16360" cy="1767476"/>
            </a:xfrm>
            <a:custGeom>
              <a:avLst/>
              <a:gdLst/>
              <a:ahLst/>
              <a:cxnLst/>
              <a:rect l="l" t="t" r="r" b="b"/>
              <a:pathLst>
                <a:path w="2616360" h="1767476">
                  <a:moveTo>
                    <a:pt x="25718" y="0"/>
                  </a:moveTo>
                  <a:lnTo>
                    <a:pt x="2590642" y="0"/>
                  </a:lnTo>
                  <a:cubicBezTo>
                    <a:pt x="2597463" y="0"/>
                    <a:pt x="2604004" y="2710"/>
                    <a:pt x="2608827" y="7533"/>
                  </a:cubicBezTo>
                  <a:cubicBezTo>
                    <a:pt x="2613650" y="12356"/>
                    <a:pt x="2616360" y="18897"/>
                    <a:pt x="2616360" y="25718"/>
                  </a:cubicBezTo>
                  <a:lnTo>
                    <a:pt x="2616360" y="1741758"/>
                  </a:lnTo>
                  <a:cubicBezTo>
                    <a:pt x="2616360" y="1755961"/>
                    <a:pt x="2604845" y="1767476"/>
                    <a:pt x="2590642" y="1767476"/>
                  </a:cubicBezTo>
                  <a:lnTo>
                    <a:pt x="25718" y="1767476"/>
                  </a:lnTo>
                  <a:cubicBezTo>
                    <a:pt x="18897" y="1767476"/>
                    <a:pt x="12356" y="1764766"/>
                    <a:pt x="7533" y="1759943"/>
                  </a:cubicBezTo>
                  <a:cubicBezTo>
                    <a:pt x="2710" y="1755120"/>
                    <a:pt x="0" y="1748579"/>
                    <a:pt x="0" y="1741758"/>
                  </a:cubicBezTo>
                  <a:lnTo>
                    <a:pt x="0" y="25718"/>
                  </a:lnTo>
                  <a:cubicBezTo>
                    <a:pt x="0" y="18897"/>
                    <a:pt x="2710" y="12356"/>
                    <a:pt x="7533" y="7533"/>
                  </a:cubicBezTo>
                  <a:cubicBezTo>
                    <a:pt x="12356" y="2710"/>
                    <a:pt x="18897" y="0"/>
                    <a:pt x="25718" y="0"/>
                  </a:cubicBezTo>
                  <a:close/>
                </a:path>
              </a:pathLst>
            </a:custGeom>
            <a:solidFill>
              <a:srgbClr val="C47C6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616360" cy="1786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94545" y="1404424"/>
            <a:ext cx="9042924" cy="6455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7343" lvl="1" indent="-263671" algn="l">
              <a:lnSpc>
                <a:spcPts val="3028"/>
              </a:lnSpc>
              <a:buFont typeface="Arial"/>
              <a:buChar char="•"/>
            </a:pPr>
            <a:r>
              <a:rPr lang="en-US" sz="244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Monte Carlo Simulation</a:t>
            </a:r>
          </a:p>
          <a:p>
            <a:pPr algn="just">
              <a:lnSpc>
                <a:spcPts val="3028"/>
              </a:lnSpc>
              <a:spcBef>
                <a:spcPct val="0"/>
              </a:spcBef>
            </a:pPr>
            <a:r>
              <a:rPr lang="en-US" sz="24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Implemented a 5-year NAV forecasting model using Monte Carlo Simulation. Thousands of possible future NAV paths were generated using historical return distributions to estimate future growth potential and uncertainty.</a:t>
            </a:r>
          </a:p>
          <a:p>
            <a:pPr algn="just">
              <a:lnSpc>
                <a:spcPts val="3028"/>
              </a:lnSpc>
              <a:spcBef>
                <a:spcPct val="0"/>
              </a:spcBef>
            </a:pPr>
            <a:endParaRPr lang="en-US" sz="244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27343" lvl="1" indent="-263671" algn="l">
              <a:lnSpc>
                <a:spcPts val="3028"/>
              </a:lnSpc>
              <a:buFont typeface="Arial"/>
              <a:buChar char="•"/>
            </a:pPr>
            <a:r>
              <a:rPr lang="en-US" sz="244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Markowitz Efficient Frontier</a:t>
            </a:r>
          </a:p>
          <a:p>
            <a:pPr algn="just">
              <a:lnSpc>
                <a:spcPts val="3028"/>
              </a:lnSpc>
              <a:spcBef>
                <a:spcPct val="0"/>
              </a:spcBef>
            </a:pPr>
            <a:r>
              <a:rPr lang="en-US" sz="24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Applied Modern Portfolio Theory to generate thousands of portfolio combinations and identify the optimal portfolio that maximizes returns for a given level of risk.</a:t>
            </a:r>
          </a:p>
          <a:p>
            <a:pPr algn="just">
              <a:lnSpc>
                <a:spcPts val="3028"/>
              </a:lnSpc>
              <a:spcBef>
                <a:spcPct val="0"/>
              </a:spcBef>
            </a:pPr>
            <a:endParaRPr lang="en-US" sz="244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27343" lvl="1" indent="-263671" algn="l">
              <a:lnSpc>
                <a:spcPts val="3028"/>
              </a:lnSpc>
              <a:buFont typeface="Arial"/>
              <a:buChar char="•"/>
            </a:pPr>
            <a:r>
              <a:rPr lang="en-US" sz="244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Automated NAV Scheduler</a:t>
            </a:r>
          </a:p>
          <a:p>
            <a:pPr algn="just">
              <a:lnSpc>
                <a:spcPts val="3028"/>
              </a:lnSpc>
              <a:spcBef>
                <a:spcPct val="0"/>
              </a:spcBef>
            </a:pPr>
            <a:r>
              <a:rPr lang="en-US" sz="24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Developed an automated NAV update process using Python and Windows Task Scheduler. The system performs scheduled NAV updates and maintains execution logs for monitoring and reliability.</a:t>
            </a:r>
          </a:p>
          <a:p>
            <a:pPr algn="just">
              <a:lnSpc>
                <a:spcPts val="2665"/>
              </a:lnSpc>
              <a:spcBef>
                <a:spcPct val="0"/>
              </a:spcBef>
            </a:pPr>
            <a:endParaRPr lang="en-US" sz="244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" name="Group 7"/>
          <p:cNvGrpSpPr>
            <a:grpSpLocks noGrp="1" noUngrp="1" noRot="1" noMove="1" noResize="1"/>
          </p:cNvGrpSpPr>
          <p:nvPr/>
        </p:nvGrpSpPr>
        <p:grpSpPr>
          <a:xfrm>
            <a:off x="10714248" y="1442524"/>
            <a:ext cx="6286539" cy="4044781"/>
            <a:chOff x="0" y="0"/>
            <a:chExt cx="1587006" cy="1021085"/>
          </a:xfrm>
        </p:grpSpPr>
        <p:sp>
          <p:nvSpPr>
            <p:cNvPr id="8" name="Freeform 8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587006" cy="1021080"/>
            </a:xfrm>
            <a:custGeom>
              <a:avLst/>
              <a:gdLst/>
              <a:ahLst/>
              <a:cxnLst/>
              <a:rect l="l" t="t" r="r" b="b"/>
              <a:pathLst>
                <a:path w="1587006" h="1021080">
                  <a:moveTo>
                    <a:pt x="965120" y="884770"/>
                  </a:moveTo>
                  <a:cubicBezTo>
                    <a:pt x="983327" y="864417"/>
                    <a:pt x="1009342" y="852784"/>
                    <a:pt x="1036650" y="852783"/>
                  </a:cubicBezTo>
                  <a:lnTo>
                    <a:pt x="1500741" y="853119"/>
                  </a:lnTo>
                  <a:cubicBezTo>
                    <a:pt x="1523616" y="853131"/>
                    <a:pt x="1545558" y="844053"/>
                    <a:pt x="1561737" y="827883"/>
                  </a:cubicBezTo>
                  <a:cubicBezTo>
                    <a:pt x="1577916" y="811712"/>
                    <a:pt x="1587006" y="789775"/>
                    <a:pt x="1587006" y="766901"/>
                  </a:cubicBezTo>
                  <a:lnTo>
                    <a:pt x="1587006" y="86219"/>
                  </a:lnTo>
                  <a:cubicBezTo>
                    <a:pt x="1587006" y="63352"/>
                    <a:pt x="1577922" y="41422"/>
                    <a:pt x="1561753" y="25253"/>
                  </a:cubicBezTo>
                  <a:cubicBezTo>
                    <a:pt x="1545584" y="9084"/>
                    <a:pt x="1523654" y="0"/>
                    <a:pt x="1500787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934867"/>
                  </a:lnTo>
                  <a:cubicBezTo>
                    <a:pt x="4" y="982482"/>
                    <a:pt x="38604" y="1021080"/>
                    <a:pt x="86219" y="1021080"/>
                  </a:cubicBezTo>
                  <a:lnTo>
                    <a:pt x="804624" y="1021080"/>
                  </a:lnTo>
                  <a:cubicBezTo>
                    <a:pt x="829157" y="1021081"/>
                    <a:pt x="852529" y="1010630"/>
                    <a:pt x="868886" y="992345"/>
                  </a:cubicBezTo>
                  <a:close/>
                </a:path>
              </a:pathLst>
            </a:custGeom>
            <a:blipFill>
              <a:blip r:embed="rId2"/>
              <a:stretch>
                <a:fillRect l="-4744" r="-15211"/>
              </a:stretch>
            </a:blipFill>
            <a:ln w="1047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>
            <a:grpSpLocks noGrp="1" noUngrp="1" noRot="1" noMove="1" noResize="1"/>
          </p:cNvGrpSpPr>
          <p:nvPr/>
        </p:nvGrpSpPr>
        <p:grpSpPr>
          <a:xfrm rot="-10800000">
            <a:off x="11787082" y="5143500"/>
            <a:ext cx="6282233" cy="4042010"/>
            <a:chOff x="0" y="0"/>
            <a:chExt cx="1587006" cy="1021085"/>
          </a:xfrm>
        </p:grpSpPr>
        <p:sp>
          <p:nvSpPr>
            <p:cNvPr id="10" name="Freeform 10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0" y="0"/>
              <a:ext cx="1587006" cy="1021080"/>
            </a:xfrm>
            <a:custGeom>
              <a:avLst/>
              <a:gdLst/>
              <a:ahLst/>
              <a:cxnLst/>
              <a:rect l="l" t="t" r="r" b="b"/>
              <a:pathLst>
                <a:path w="1587006" h="1021080">
                  <a:moveTo>
                    <a:pt x="621886" y="136310"/>
                  </a:moveTo>
                  <a:cubicBezTo>
                    <a:pt x="603679" y="156663"/>
                    <a:pt x="577664" y="168296"/>
                    <a:pt x="550356" y="168297"/>
                  </a:cubicBezTo>
                  <a:lnTo>
                    <a:pt x="86265" y="167961"/>
                  </a:lnTo>
                  <a:cubicBezTo>
                    <a:pt x="63390" y="167949"/>
                    <a:pt x="41448" y="177027"/>
                    <a:pt x="25269" y="193197"/>
                  </a:cubicBezTo>
                  <a:cubicBezTo>
                    <a:pt x="9090" y="209368"/>
                    <a:pt x="0" y="231305"/>
                    <a:pt x="0" y="254179"/>
                  </a:cubicBezTo>
                  <a:lnTo>
                    <a:pt x="0" y="934861"/>
                  </a:lnTo>
                  <a:cubicBezTo>
                    <a:pt x="0" y="957728"/>
                    <a:pt x="9084" y="979658"/>
                    <a:pt x="25253" y="995827"/>
                  </a:cubicBezTo>
                  <a:cubicBezTo>
                    <a:pt x="41422" y="1011996"/>
                    <a:pt x="63352" y="1021080"/>
                    <a:pt x="86219" y="1021080"/>
                  </a:cubicBezTo>
                  <a:lnTo>
                    <a:pt x="1283984" y="1021080"/>
                  </a:lnTo>
                  <a:cubicBezTo>
                    <a:pt x="1308517" y="1021081"/>
                    <a:pt x="1331889" y="1010630"/>
                    <a:pt x="1348246" y="992345"/>
                  </a:cubicBezTo>
                  <a:lnTo>
                    <a:pt x="1565046" y="749988"/>
                  </a:lnTo>
                  <a:cubicBezTo>
                    <a:pt x="1579188" y="734180"/>
                    <a:pt x="1587006" y="713715"/>
                    <a:pt x="1587006" y="692504"/>
                  </a:cubicBezTo>
                  <a:lnTo>
                    <a:pt x="1587006" y="86213"/>
                  </a:lnTo>
                  <a:cubicBezTo>
                    <a:pt x="1587003" y="38598"/>
                    <a:pt x="1548402" y="0"/>
                    <a:pt x="1500787" y="0"/>
                  </a:cubicBezTo>
                  <a:lnTo>
                    <a:pt x="782382" y="0"/>
                  </a:lnTo>
                  <a:cubicBezTo>
                    <a:pt x="757849" y="-1"/>
                    <a:pt x="734477" y="10450"/>
                    <a:pt x="718120" y="28735"/>
                  </a:cubicBezTo>
                  <a:close/>
                </a:path>
              </a:pathLst>
            </a:custGeom>
            <a:blipFill>
              <a:blip r:embed="rId3"/>
              <a:stretch>
                <a:fillRect r="-13785"/>
              </a:stretch>
            </a:blipFill>
            <a:ln w="1047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295160" y="-3164837"/>
            <a:ext cx="5591601" cy="5591601"/>
          </a:xfrm>
          <a:custGeom>
            <a:avLst/>
            <a:gdLst/>
            <a:ahLst/>
            <a:cxnLst/>
            <a:rect l="l" t="t" r="r" b="b"/>
            <a:pathLst>
              <a:path w="5591601" h="5591601">
                <a:moveTo>
                  <a:pt x="0" y="0"/>
                </a:moveTo>
                <a:lnTo>
                  <a:pt x="5591601" y="0"/>
                </a:lnTo>
                <a:lnTo>
                  <a:pt x="5591601" y="5591601"/>
                </a:lnTo>
                <a:lnTo>
                  <a:pt x="0" y="55916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353608" y="299407"/>
            <a:ext cx="14941552" cy="627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BONUS IMPLEMENTATIONS &amp; PORTFOLIO OPTIMIZATION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2927" y="7937592"/>
            <a:ext cx="10827506" cy="1826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</a:t>
            </a:r>
          </a:p>
          <a:p>
            <a:pPr algn="l">
              <a:lnSpc>
                <a:spcPts val="3099"/>
              </a:lnSpc>
              <a:spcBef>
                <a:spcPct val="0"/>
              </a:spcBef>
            </a:pPr>
            <a:endParaRPr lang="en-US" sz="2499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727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These enhancements extended the project beyond traditional analytics by incorporating:</a:t>
            </a:r>
          </a:p>
          <a:p>
            <a:pPr algn="l">
              <a:lnSpc>
                <a:spcPts val="2727"/>
              </a:lnSpc>
              <a:spcBef>
                <a:spcPct val="0"/>
              </a:spcBef>
            </a:pPr>
            <a:endParaRPr lang="en-US" sz="21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32927" y="9569542"/>
            <a:ext cx="15967710" cy="36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7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Portfolio optimization • Future NAV forecasting • Automated data updates•Advanced decision-support capabilities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E3C">
                <a:alpha val="100000"/>
              </a:srgbClr>
            </a:gs>
            <a:gs pos="100000">
              <a:srgbClr val="002455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918" y="235801"/>
            <a:ext cx="17504164" cy="988571"/>
            <a:chOff x="0" y="0"/>
            <a:chExt cx="6095074" cy="3442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95074" cy="344228"/>
            </a:xfrm>
            <a:custGeom>
              <a:avLst/>
              <a:gdLst/>
              <a:ahLst/>
              <a:cxnLst/>
              <a:rect l="l" t="t" r="r" b="b"/>
              <a:pathLst>
                <a:path w="6095074" h="344228">
                  <a:moveTo>
                    <a:pt x="5891874" y="0"/>
                  </a:moveTo>
                  <a:cubicBezTo>
                    <a:pt x="6004098" y="0"/>
                    <a:pt x="6095074" y="77058"/>
                    <a:pt x="6095074" y="172114"/>
                  </a:cubicBezTo>
                  <a:cubicBezTo>
                    <a:pt x="6095074" y="267170"/>
                    <a:pt x="6004098" y="344228"/>
                    <a:pt x="5891874" y="344228"/>
                  </a:cubicBezTo>
                  <a:lnTo>
                    <a:pt x="203200" y="344228"/>
                  </a:lnTo>
                  <a:cubicBezTo>
                    <a:pt x="90976" y="344228"/>
                    <a:pt x="0" y="267170"/>
                    <a:pt x="0" y="172114"/>
                  </a:cubicBezTo>
                  <a:cubicBezTo>
                    <a:pt x="0" y="77058"/>
                    <a:pt x="90976" y="0"/>
                    <a:pt x="203200" y="0"/>
                  </a:cubicBezTo>
                  <a:lnTo>
                    <a:pt x="5891874" y="0"/>
                  </a:lnTo>
                  <a:close/>
                </a:path>
              </a:pathLst>
            </a:custGeom>
            <a:ln w="666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6095074" cy="36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47201" y="5462409"/>
            <a:ext cx="8571710" cy="4672487"/>
          </a:xfrm>
          <a:custGeom>
            <a:avLst/>
            <a:gdLst/>
            <a:ahLst/>
            <a:cxnLst/>
            <a:rect l="l" t="t" r="r" b="b"/>
            <a:pathLst>
              <a:path w="8571710" h="4672487">
                <a:moveTo>
                  <a:pt x="0" y="0"/>
                </a:moveTo>
                <a:lnTo>
                  <a:pt x="8571710" y="0"/>
                </a:lnTo>
                <a:lnTo>
                  <a:pt x="8571710" y="4672487"/>
                </a:lnTo>
                <a:lnTo>
                  <a:pt x="0" y="4672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32" b="-103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9630933" y="5339231"/>
            <a:ext cx="8487167" cy="4795665"/>
          </a:xfrm>
          <a:custGeom>
            <a:avLst/>
            <a:gdLst/>
            <a:ahLst/>
            <a:cxnLst/>
            <a:rect l="l" t="t" r="r" b="b"/>
            <a:pathLst>
              <a:path w="8487167" h="4795665">
                <a:moveTo>
                  <a:pt x="0" y="0"/>
                </a:moveTo>
                <a:lnTo>
                  <a:pt x="8487167" y="0"/>
                </a:lnTo>
                <a:lnTo>
                  <a:pt x="8487167" y="4795665"/>
                </a:lnTo>
                <a:lnTo>
                  <a:pt x="0" y="47956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23" r="-47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545992" y="1320800"/>
            <a:ext cx="7181215" cy="426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9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Industry Overview</a:t>
            </a:r>
          </a:p>
          <a:p>
            <a:pPr algn="just">
              <a:lnSpc>
                <a:spcPts val="3099"/>
              </a:lnSpc>
            </a:pPr>
            <a:endParaRPr lang="en-US" sz="249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0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Provides a high-level view of the mutual fund industry through key KPIs and market trends</a:t>
            </a:r>
          </a:p>
          <a:p>
            <a:pPr algn="just">
              <a:lnSpc>
                <a:spcPts val="309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Highlights</a:t>
            </a:r>
          </a:p>
          <a:p>
            <a:pPr marL="539749" lvl="1" indent="-269875" algn="just">
              <a:lnSpc>
                <a:spcPts val="30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AUM Growth Analysis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SIP Inflow Tracking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Folio Statistics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Top Fund House Comparison</a:t>
            </a:r>
          </a:p>
          <a:p>
            <a:pPr algn="just">
              <a:lnSpc>
                <a:spcPts val="2727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47201" y="464905"/>
            <a:ext cx="17256962" cy="534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POWER BI DASHBOARD (INDUSTRY OVERVIEW &amp; FUND PERFORMANCE)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78085" y="1320800"/>
            <a:ext cx="7181215" cy="426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Fund Performance</a:t>
            </a:r>
          </a:p>
          <a:p>
            <a:pPr algn="just">
              <a:lnSpc>
                <a:spcPts val="3099"/>
              </a:lnSpc>
              <a:spcBef>
                <a:spcPct val="0"/>
              </a:spcBef>
            </a:pPr>
            <a:endParaRPr lang="en-US" sz="249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0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Evaluates mutual funds using risk-return metrics and benchmark comparisons.</a:t>
            </a:r>
          </a:p>
          <a:p>
            <a:pPr algn="just">
              <a:lnSpc>
                <a:spcPts val="309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Highlights</a:t>
            </a:r>
          </a:p>
          <a:p>
            <a:pPr marL="539749" lvl="1" indent="-269875" algn="just">
              <a:lnSpc>
                <a:spcPts val="30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Risk vs Return Analysis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Fund Scorecard Rankings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NAV vs Benchmark Comparison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Fund Category Filters</a:t>
            </a:r>
          </a:p>
          <a:p>
            <a:pPr algn="just">
              <a:lnSpc>
                <a:spcPts val="2727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E3C">
                <a:alpha val="100000"/>
              </a:srgbClr>
            </a:gs>
            <a:gs pos="100000">
              <a:srgbClr val="002455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918" y="235801"/>
            <a:ext cx="17504164" cy="988571"/>
            <a:chOff x="0" y="0"/>
            <a:chExt cx="6095074" cy="3442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95074" cy="344228"/>
            </a:xfrm>
            <a:custGeom>
              <a:avLst/>
              <a:gdLst/>
              <a:ahLst/>
              <a:cxnLst/>
              <a:rect l="l" t="t" r="r" b="b"/>
              <a:pathLst>
                <a:path w="6095074" h="344228">
                  <a:moveTo>
                    <a:pt x="5891874" y="0"/>
                  </a:moveTo>
                  <a:cubicBezTo>
                    <a:pt x="6004098" y="0"/>
                    <a:pt x="6095074" y="77058"/>
                    <a:pt x="6095074" y="172114"/>
                  </a:cubicBezTo>
                  <a:cubicBezTo>
                    <a:pt x="6095074" y="267170"/>
                    <a:pt x="6004098" y="344228"/>
                    <a:pt x="5891874" y="344228"/>
                  </a:cubicBezTo>
                  <a:lnTo>
                    <a:pt x="203200" y="344228"/>
                  </a:lnTo>
                  <a:cubicBezTo>
                    <a:pt x="90976" y="344228"/>
                    <a:pt x="0" y="267170"/>
                    <a:pt x="0" y="172114"/>
                  </a:cubicBezTo>
                  <a:cubicBezTo>
                    <a:pt x="0" y="77058"/>
                    <a:pt x="90976" y="0"/>
                    <a:pt x="203200" y="0"/>
                  </a:cubicBezTo>
                  <a:lnTo>
                    <a:pt x="5891874" y="0"/>
                  </a:lnTo>
                  <a:close/>
                </a:path>
              </a:pathLst>
            </a:custGeom>
            <a:ln w="666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6095074" cy="36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47201" y="5462409"/>
            <a:ext cx="8571710" cy="4672487"/>
          </a:xfrm>
          <a:custGeom>
            <a:avLst/>
            <a:gdLst/>
            <a:ahLst/>
            <a:cxnLst/>
            <a:rect l="l" t="t" r="r" b="b"/>
            <a:pathLst>
              <a:path w="8571710" h="4672487">
                <a:moveTo>
                  <a:pt x="0" y="0"/>
                </a:moveTo>
                <a:lnTo>
                  <a:pt x="8571710" y="0"/>
                </a:lnTo>
                <a:lnTo>
                  <a:pt x="8571710" y="4672487"/>
                </a:lnTo>
                <a:lnTo>
                  <a:pt x="0" y="4672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99" b="-11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9630933" y="5339231"/>
            <a:ext cx="8487167" cy="4795665"/>
          </a:xfrm>
          <a:custGeom>
            <a:avLst/>
            <a:gdLst/>
            <a:ahLst/>
            <a:cxnLst/>
            <a:rect l="l" t="t" r="r" b="b"/>
            <a:pathLst>
              <a:path w="8487167" h="4795665">
                <a:moveTo>
                  <a:pt x="0" y="0"/>
                </a:moveTo>
                <a:lnTo>
                  <a:pt x="8487167" y="0"/>
                </a:lnTo>
                <a:lnTo>
                  <a:pt x="8487167" y="4795665"/>
                </a:lnTo>
                <a:lnTo>
                  <a:pt x="0" y="47956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5" b="-3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545992" y="1320800"/>
            <a:ext cx="7181215" cy="426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9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Investor Analytics</a:t>
            </a:r>
          </a:p>
          <a:p>
            <a:pPr algn="just">
              <a:lnSpc>
                <a:spcPts val="3099"/>
              </a:lnSpc>
            </a:pPr>
            <a:endParaRPr lang="en-US" sz="249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0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Analyzes investor demographics, transaction patterns, and geographic distribution.</a:t>
            </a:r>
          </a:p>
          <a:p>
            <a:pPr algn="just">
              <a:lnSpc>
                <a:spcPts val="309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Highlights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State-wise Investments</a:t>
            </a:r>
          </a:p>
          <a:p>
            <a:pPr marL="539749" lvl="1" indent="-269875" algn="just">
              <a:lnSpc>
                <a:spcPts val="30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 Group Analysis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Transaction Distribution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 Investment Trends</a:t>
            </a:r>
          </a:p>
          <a:p>
            <a:pPr algn="just">
              <a:lnSpc>
                <a:spcPts val="2727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47201" y="464905"/>
            <a:ext cx="17256962" cy="534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POWER BI DASHBOARD (INVESTOR ANALYTICS &amp; SIP MARKET TRENDS)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78085" y="1320800"/>
            <a:ext cx="7181215" cy="426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9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SIP &amp; Market Trends</a:t>
            </a:r>
          </a:p>
          <a:p>
            <a:pPr algn="just">
              <a:lnSpc>
                <a:spcPts val="3099"/>
              </a:lnSpc>
            </a:pPr>
            <a:endParaRPr lang="en-US" sz="249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0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Tracks industry growth and category-level investment patterns.</a:t>
            </a:r>
          </a:p>
          <a:p>
            <a:pPr algn="just">
              <a:lnSpc>
                <a:spcPts val="309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Highlights</a:t>
            </a:r>
          </a:p>
          <a:p>
            <a:pPr marL="539749" lvl="1" indent="-269875" algn="just">
              <a:lnSpc>
                <a:spcPts val="30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SIP Growth Trends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Category Inflows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Top Performing Categories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Market Participation Trends</a:t>
            </a:r>
          </a:p>
          <a:p>
            <a:pPr algn="just">
              <a:lnSpc>
                <a:spcPts val="2727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E3C">
                <a:alpha val="100000"/>
              </a:srgbClr>
            </a:gs>
            <a:gs pos="100000">
              <a:srgbClr val="002455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434" y="1477153"/>
            <a:ext cx="11757991" cy="4177884"/>
            <a:chOff x="0" y="0"/>
            <a:chExt cx="3096755" cy="11003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96755" cy="1100348"/>
            </a:xfrm>
            <a:custGeom>
              <a:avLst/>
              <a:gdLst/>
              <a:ahLst/>
              <a:cxnLst/>
              <a:rect l="l" t="t" r="r" b="b"/>
              <a:pathLst>
                <a:path w="3096755" h="1100348">
                  <a:moveTo>
                    <a:pt x="33580" y="0"/>
                  </a:moveTo>
                  <a:lnTo>
                    <a:pt x="3063175" y="0"/>
                  </a:lnTo>
                  <a:cubicBezTo>
                    <a:pt x="3072081" y="0"/>
                    <a:pt x="3080622" y="3538"/>
                    <a:pt x="3086920" y="9835"/>
                  </a:cubicBezTo>
                  <a:cubicBezTo>
                    <a:pt x="3093217" y="16133"/>
                    <a:pt x="3096755" y="24674"/>
                    <a:pt x="3096755" y="33580"/>
                  </a:cubicBezTo>
                  <a:lnTo>
                    <a:pt x="3096755" y="1066768"/>
                  </a:lnTo>
                  <a:cubicBezTo>
                    <a:pt x="3096755" y="1085314"/>
                    <a:pt x="3081721" y="1100348"/>
                    <a:pt x="3063175" y="1100348"/>
                  </a:cubicBezTo>
                  <a:lnTo>
                    <a:pt x="33580" y="1100348"/>
                  </a:lnTo>
                  <a:cubicBezTo>
                    <a:pt x="24674" y="1100348"/>
                    <a:pt x="16133" y="1096810"/>
                    <a:pt x="9835" y="1090513"/>
                  </a:cubicBezTo>
                  <a:cubicBezTo>
                    <a:pt x="3538" y="1084215"/>
                    <a:pt x="0" y="1075674"/>
                    <a:pt x="0" y="1066768"/>
                  </a:cubicBezTo>
                  <a:lnTo>
                    <a:pt x="0" y="33580"/>
                  </a:lnTo>
                  <a:cubicBezTo>
                    <a:pt x="0" y="24674"/>
                    <a:pt x="3538" y="16133"/>
                    <a:pt x="9835" y="9835"/>
                  </a:cubicBezTo>
                  <a:cubicBezTo>
                    <a:pt x="16133" y="3538"/>
                    <a:pt x="24674" y="0"/>
                    <a:pt x="33580" y="0"/>
                  </a:cubicBezTo>
                  <a:close/>
                </a:path>
              </a:pathLst>
            </a:custGeom>
            <a:ln w="571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096755" cy="1128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434" y="5869602"/>
            <a:ext cx="11757991" cy="4113739"/>
            <a:chOff x="0" y="0"/>
            <a:chExt cx="3096755" cy="10834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96755" cy="1083454"/>
            </a:xfrm>
            <a:custGeom>
              <a:avLst/>
              <a:gdLst/>
              <a:ahLst/>
              <a:cxnLst/>
              <a:rect l="l" t="t" r="r" b="b"/>
              <a:pathLst>
                <a:path w="3096755" h="1083454">
                  <a:moveTo>
                    <a:pt x="33580" y="0"/>
                  </a:moveTo>
                  <a:lnTo>
                    <a:pt x="3063175" y="0"/>
                  </a:lnTo>
                  <a:cubicBezTo>
                    <a:pt x="3072081" y="0"/>
                    <a:pt x="3080622" y="3538"/>
                    <a:pt x="3086920" y="9835"/>
                  </a:cubicBezTo>
                  <a:cubicBezTo>
                    <a:pt x="3093217" y="16133"/>
                    <a:pt x="3096755" y="24674"/>
                    <a:pt x="3096755" y="33580"/>
                  </a:cubicBezTo>
                  <a:lnTo>
                    <a:pt x="3096755" y="1049873"/>
                  </a:lnTo>
                  <a:cubicBezTo>
                    <a:pt x="3096755" y="1068419"/>
                    <a:pt x="3081721" y="1083454"/>
                    <a:pt x="3063175" y="1083454"/>
                  </a:cubicBezTo>
                  <a:lnTo>
                    <a:pt x="33580" y="1083454"/>
                  </a:lnTo>
                  <a:cubicBezTo>
                    <a:pt x="24674" y="1083454"/>
                    <a:pt x="16133" y="1079916"/>
                    <a:pt x="9835" y="1073618"/>
                  </a:cubicBezTo>
                  <a:cubicBezTo>
                    <a:pt x="3538" y="1067321"/>
                    <a:pt x="0" y="1058780"/>
                    <a:pt x="0" y="1049873"/>
                  </a:cubicBezTo>
                  <a:lnTo>
                    <a:pt x="0" y="33580"/>
                  </a:lnTo>
                  <a:cubicBezTo>
                    <a:pt x="0" y="24674"/>
                    <a:pt x="3538" y="16133"/>
                    <a:pt x="9835" y="9835"/>
                  </a:cubicBezTo>
                  <a:cubicBezTo>
                    <a:pt x="16133" y="3538"/>
                    <a:pt x="24674" y="0"/>
                    <a:pt x="33580" y="0"/>
                  </a:cubicBezTo>
                  <a:close/>
                </a:path>
              </a:pathLst>
            </a:custGeom>
            <a:ln w="571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096755" cy="11120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59200" y="-327954"/>
            <a:ext cx="6128800" cy="11668243"/>
            <a:chOff x="0" y="0"/>
            <a:chExt cx="949512" cy="18077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9512" cy="1807716"/>
            </a:xfrm>
            <a:custGeom>
              <a:avLst/>
              <a:gdLst/>
              <a:ahLst/>
              <a:cxnLst/>
              <a:rect l="l" t="t" r="r" b="b"/>
              <a:pathLst>
                <a:path w="949512" h="1807716">
                  <a:moveTo>
                    <a:pt x="0" y="0"/>
                  </a:moveTo>
                  <a:lnTo>
                    <a:pt x="949512" y="0"/>
                  </a:lnTo>
                  <a:lnTo>
                    <a:pt x="949512" y="1807716"/>
                  </a:lnTo>
                  <a:lnTo>
                    <a:pt x="0" y="1807716"/>
                  </a:lnTo>
                  <a:close/>
                </a:path>
              </a:pathLst>
            </a:custGeom>
            <a:blipFill>
              <a:blip r:embed="rId2"/>
              <a:stretch>
                <a:fillRect l="-3307" r="-3307"/>
              </a:stretch>
            </a:blipFill>
            <a:ln w="857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7434" y="493834"/>
            <a:ext cx="1382991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FINDINGS &amp; RECOMMENDATIONS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5469" y="1689214"/>
            <a:ext cx="10905895" cy="4255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6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Findings</a:t>
            </a:r>
          </a:p>
          <a:p>
            <a:pPr algn="just">
              <a:lnSpc>
                <a:spcPts val="2976"/>
              </a:lnSpc>
              <a:spcBef>
                <a:spcPct val="0"/>
              </a:spcBef>
            </a:pPr>
            <a:endParaRPr lang="en-US" sz="24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Equity-oriented funds generated the highest long-term returns.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Several funds demonstrated strong risk-adjusted performance through high Sharpe Ratios.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SIP investments contributed significantly to overall fund inflows.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Investor participation was concentrated in major metropolitan regions.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Portfolio concentration risk varied across mutual fund categories.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Optimized portfolios provided better risk-return trade-offs.</a:t>
            </a:r>
          </a:p>
          <a:p>
            <a:pPr algn="just">
              <a:lnSpc>
                <a:spcPts val="2976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58368" y="6383952"/>
            <a:ext cx="10702997" cy="3370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6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  <a:p>
            <a:pPr algn="just">
              <a:lnSpc>
                <a:spcPts val="2976"/>
              </a:lnSpc>
              <a:spcBef>
                <a:spcPct val="0"/>
              </a:spcBef>
            </a:pPr>
            <a:endParaRPr lang="en-US" sz="24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Promote SIP-based investment plans.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Encourage portfolio diversification to reduce risk.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 risk-adjusted metrics alongside returns for fund evaluation.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Leverage recommendation systems for personalized investment guidance.</a:t>
            </a:r>
          </a:p>
          <a:p>
            <a:pPr marL="539749" lvl="1" indent="-269875" algn="just">
              <a:lnSpc>
                <a:spcPts val="30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 automated monitoring and reporting systems.</a:t>
            </a:r>
          </a:p>
          <a:p>
            <a:pPr algn="just">
              <a:lnSpc>
                <a:spcPts val="2106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E3C">
                <a:alpha val="100000"/>
              </a:srgbClr>
            </a:gs>
            <a:gs pos="100000">
              <a:srgbClr val="002455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74508" y="472032"/>
            <a:ext cx="11929016" cy="9398846"/>
            <a:chOff x="0" y="0"/>
            <a:chExt cx="2351745" cy="18529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51745" cy="1852935"/>
            </a:xfrm>
            <a:custGeom>
              <a:avLst/>
              <a:gdLst/>
              <a:ahLst/>
              <a:cxnLst/>
              <a:rect l="l" t="t" r="r" b="b"/>
              <a:pathLst>
                <a:path w="2351745" h="1852935">
                  <a:moveTo>
                    <a:pt x="62304" y="0"/>
                  </a:moveTo>
                  <a:lnTo>
                    <a:pt x="2289441" y="0"/>
                  </a:lnTo>
                  <a:cubicBezTo>
                    <a:pt x="2323851" y="0"/>
                    <a:pt x="2351745" y="27894"/>
                    <a:pt x="2351745" y="62304"/>
                  </a:cubicBezTo>
                  <a:lnTo>
                    <a:pt x="2351745" y="1790631"/>
                  </a:lnTo>
                  <a:cubicBezTo>
                    <a:pt x="2351745" y="1825041"/>
                    <a:pt x="2323851" y="1852935"/>
                    <a:pt x="2289441" y="1852935"/>
                  </a:cubicBezTo>
                  <a:lnTo>
                    <a:pt x="62304" y="1852935"/>
                  </a:lnTo>
                  <a:cubicBezTo>
                    <a:pt x="27894" y="1852935"/>
                    <a:pt x="0" y="1825041"/>
                    <a:pt x="0" y="1790631"/>
                  </a:cubicBezTo>
                  <a:lnTo>
                    <a:pt x="0" y="62304"/>
                  </a:lnTo>
                  <a:cubicBezTo>
                    <a:pt x="0" y="27894"/>
                    <a:pt x="27894" y="0"/>
                    <a:pt x="62304" y="0"/>
                  </a:cubicBezTo>
                  <a:close/>
                </a:path>
              </a:pathLst>
            </a:custGeom>
            <a:ln w="952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351745" cy="1910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259300" y="9740565"/>
            <a:ext cx="742485" cy="260626"/>
          </a:xfrm>
          <a:custGeom>
            <a:avLst/>
            <a:gdLst/>
            <a:ahLst/>
            <a:cxnLst/>
            <a:rect l="l" t="t" r="r" b="b"/>
            <a:pathLst>
              <a:path w="742485" h="260626">
                <a:moveTo>
                  <a:pt x="0" y="0"/>
                </a:moveTo>
                <a:lnTo>
                  <a:pt x="742485" y="0"/>
                </a:lnTo>
                <a:lnTo>
                  <a:pt x="742485" y="260626"/>
                </a:lnTo>
                <a:lnTo>
                  <a:pt x="0" y="2606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0462" r="-111918" b="-18667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3607439" y="1286914"/>
            <a:ext cx="8800445" cy="1811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79"/>
              </a:lnSpc>
            </a:pPr>
            <a:r>
              <a:rPr lang="en-US" sz="1210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99287" y="4580095"/>
            <a:ext cx="11079459" cy="3459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243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PREPARED BY:</a:t>
            </a:r>
          </a:p>
          <a:p>
            <a:pPr algn="l">
              <a:lnSpc>
                <a:spcPts val="2536"/>
              </a:lnSpc>
            </a:pPr>
            <a:endParaRPr lang="en-US" sz="2438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536"/>
              </a:lnSpc>
            </a:pPr>
            <a:r>
              <a:rPr lang="en-US" sz="243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BHIMISHETTI LOHITH</a:t>
            </a:r>
          </a:p>
          <a:p>
            <a:pPr algn="l">
              <a:lnSpc>
                <a:spcPts val="2536"/>
              </a:lnSpc>
            </a:pPr>
            <a:endParaRPr lang="en-US" sz="2438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536"/>
              </a:lnSpc>
            </a:pPr>
            <a:r>
              <a:rPr lang="en-US" sz="243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ANALYST INTERN</a:t>
            </a:r>
          </a:p>
          <a:p>
            <a:pPr algn="l">
              <a:lnSpc>
                <a:spcPts val="2536"/>
              </a:lnSpc>
            </a:pPr>
            <a:endParaRPr lang="en-US" sz="2438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536"/>
              </a:lnSpc>
            </a:pPr>
            <a:r>
              <a:rPr lang="en-US" sz="243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BLUESTOCK FINTECH</a:t>
            </a:r>
          </a:p>
          <a:p>
            <a:pPr algn="l">
              <a:lnSpc>
                <a:spcPts val="2536"/>
              </a:lnSpc>
            </a:pPr>
            <a:endParaRPr lang="en-US" sz="2438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536"/>
              </a:lnSpc>
            </a:pPr>
            <a:r>
              <a:rPr lang="en-US" sz="243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EMAIL: </a:t>
            </a:r>
            <a:r>
              <a:rPr lang="en-US" sz="243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bhimishettilohith24@gmail.com</a:t>
            </a:r>
          </a:p>
          <a:p>
            <a:pPr algn="l">
              <a:lnSpc>
                <a:spcPts val="2536"/>
              </a:lnSpc>
            </a:pPr>
            <a:endParaRPr lang="en-US" sz="2438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536"/>
              </a:lnSpc>
            </a:pPr>
            <a:r>
              <a:rPr lang="en-US" sz="2438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Github</a:t>
            </a:r>
            <a:r>
              <a:rPr lang="en-US" sz="243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Link:</a:t>
            </a:r>
            <a:r>
              <a:rPr lang="en-US" sz="243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https://github.com/bhimishettilohith/bluestock-mf-capstone</a:t>
            </a:r>
          </a:p>
        </p:txBody>
      </p:sp>
      <p:sp>
        <p:nvSpPr>
          <p:cNvPr id="9" name="Freeform 9"/>
          <p:cNvSpPr/>
          <p:nvPr/>
        </p:nvSpPr>
        <p:spPr>
          <a:xfrm>
            <a:off x="286215" y="341719"/>
            <a:ext cx="742485" cy="260626"/>
          </a:xfrm>
          <a:custGeom>
            <a:avLst/>
            <a:gdLst/>
            <a:ahLst/>
            <a:cxnLst/>
            <a:rect l="l" t="t" r="r" b="b"/>
            <a:pathLst>
              <a:path w="742485" h="260626">
                <a:moveTo>
                  <a:pt x="0" y="0"/>
                </a:moveTo>
                <a:lnTo>
                  <a:pt x="742485" y="0"/>
                </a:lnTo>
                <a:lnTo>
                  <a:pt x="742485" y="260625"/>
                </a:lnTo>
                <a:lnTo>
                  <a:pt x="0" y="260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10462" r="-111918" b="-186675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888</Words>
  <Application>Microsoft Office PowerPoint</Application>
  <PresentationFormat>Custom</PresentationFormat>
  <Paragraphs>157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Copperplate Gothic 32 AB Bold</vt:lpstr>
      <vt:lpstr>Open Sans</vt:lpstr>
      <vt:lpstr>Arial</vt:lpstr>
      <vt:lpstr>Poppins</vt:lpstr>
      <vt:lpstr>Open Sans Bold</vt:lpstr>
      <vt:lpstr>Calibri</vt:lpstr>
      <vt:lpstr>Poppins Semi-Bold</vt:lpstr>
      <vt:lpstr>Poppins Bold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Investor Funding Pitch Deck Presentation</dc:title>
  <cp:lastModifiedBy>Bhimishetti Lohith</cp:lastModifiedBy>
  <cp:revision>3</cp:revision>
  <dcterms:created xsi:type="dcterms:W3CDTF">2006-08-16T00:00:00Z</dcterms:created>
  <dcterms:modified xsi:type="dcterms:W3CDTF">2026-06-10T11:40:57Z</dcterms:modified>
  <dc:identifier>DAHMFZMa6p0</dc:identifier>
</cp:coreProperties>
</file>